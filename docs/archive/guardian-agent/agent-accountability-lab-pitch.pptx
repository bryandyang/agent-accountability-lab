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eyebrow">
            <a:extLst>
              <a:ext uri="{FF2B5EF4-FFF2-40B4-BE49-F238E27FC236}">
                <a16:creationId xmlns:a16="http://schemas.microsoft.com/office/drawing/2014/main" id="{610D8C3E-0874-463E-8B34-B7E71B6CFF48}"/>
              </a:ext>
            </a:extLst>
          </p:cNvPr>
          <p:cNvSpPr>
            <a:spLocks noGrp="1"/>
          </p:cNvSpPr>
          <p:nvPr/>
        </p:nvSpPr>
        <p:spPr>
          <a:xfrm>
            <a:off x="590550" y="4572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l">
              <a:defRPr sz="14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CIS-5980  |  AI ENGINEERING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D5CB07C8-0857-4145-AA89-278907E18878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857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5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5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Guardian Agent</a:t>
            </a:r>
            <a:endParaRPr sz="5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75B06DAC-29A5-4066-84DD-6CC4CDC2FBF4}"/>
              </a:ext>
            </a:extLst>
          </p:cNvPr>
          <p:cNvSpPr>
            <a:spLocks noGrp="1"/>
          </p:cNvSpPr>
          <p:nvPr/>
        </p:nvSpPr>
        <p:spPr>
          <a:xfrm>
            <a:off x="619125" y="280035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Visual context governance for reliable coding agents</a:t>
            </a:r>
          </a:p>
        </p:txBody>
      </p:sp>
      <p:sp>
        <p:nvSpPr>
          <p:cNvPr id="4" name="cover-thesis">
            <a:extLst>
              <a:ext uri="{FF2B5EF4-FFF2-40B4-BE49-F238E27FC236}">
                <a16:creationId xmlns:a16="http://schemas.microsoft.com/office/drawing/2014/main" id="{04221A6F-2C90-4952-BEF5-E664937B9216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7334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See what context was considered, what was rejected, what reached the model, and what changed.</a:t>
            </a:r>
          </a:p>
        </p:txBody>
      </p:sp>
      <p:cxnSp>
        <p:nvCxnSpPr>
          <p:cNvPr id="17" name="cover-evidence-line"/>
          <p:cNvCxnSpPr/>
          <p:nvPr/>
        </p:nvCxnSpPr>
        <p:spPr>
          <a:xfrm>
            <a:off x="628650" y="5010150"/>
            <a:ext cx="9620250" cy="0"/>
          </a:xfrm>
          <a:prstGeom prst="straightConnector1">
            <a:avLst/>
          </a:prstGeom>
          <a:ln w="47625">
            <a:solidFill>
              <a:srgbClr val="2563EB"/>
            </a:solidFill>
            <a:prstDash val="solid"/>
          </a:ln>
        </p:spPr>
      </p:cxnSp>
      <p:sp>
        <p:nvSpPr>
          <p:cNvPr id="6" name="cover-node-0">
            <a:extLst>
              <a:ext uri="{FF2B5EF4-FFF2-40B4-BE49-F238E27FC236}">
                <a16:creationId xmlns:a16="http://schemas.microsoft.com/office/drawing/2014/main" id="{C5F72267-AE63-4E76-95DD-D2477554C169}"/>
              </a:ext>
            </a:extLst>
          </p:cNvPr>
          <p:cNvSpPr>
            <a:spLocks noGrp="1"/>
          </p:cNvSpPr>
          <p:nvPr/>
        </p:nvSpPr>
        <p:spPr>
          <a:xfrm>
            <a:off x="628650" y="4914900"/>
            <a:ext cx="190500" cy="1905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ver-label-0">
            <a:extLst>
              <a:ext uri="{FF2B5EF4-FFF2-40B4-BE49-F238E27FC236}">
                <a16:creationId xmlns:a16="http://schemas.microsoft.com/office/drawing/2014/main" id="{3CF1EC65-9DF9-48C4-BC35-7A1AEF267229}"/>
              </a:ext>
            </a:extLst>
          </p:cNvPr>
          <p:cNvSpPr>
            <a:spLocks noGrp="1"/>
          </p:cNvSpPr>
          <p:nvPr/>
        </p:nvSpPr>
        <p:spPr>
          <a:xfrm>
            <a:off x="628650" y="5257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17" lnSpcReduction="10000"/>
          </a:bodyPr>
          <a:lstStyle/>
          <a:p>
            <a:pPr algn="l"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8" name="cover-node-1">
            <a:extLst>
              <a:ext uri="{FF2B5EF4-FFF2-40B4-BE49-F238E27FC236}">
                <a16:creationId xmlns:a16="http://schemas.microsoft.com/office/drawing/2014/main" id="{7A490EAC-9E88-4FE1-8ED6-F08B394B5AE0}"/>
              </a:ext>
            </a:extLst>
          </p:cNvPr>
          <p:cNvSpPr>
            <a:spLocks noGrp="1"/>
          </p:cNvSpPr>
          <p:nvPr/>
        </p:nvSpPr>
        <p:spPr>
          <a:xfrm>
            <a:off x="5391150" y="4914900"/>
            <a:ext cx="190500" cy="190500"/>
          </a:xfrm>
          <a:prstGeom prst="ellipse">
            <a:avLst/>
          </a:prstGeom>
          <a:solidFill>
            <a:srgbClr val="21B6D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ver-label-1">
            <a:extLst>
              <a:ext uri="{FF2B5EF4-FFF2-40B4-BE49-F238E27FC236}">
                <a16:creationId xmlns:a16="http://schemas.microsoft.com/office/drawing/2014/main" id="{A2B744BC-D195-4EF4-B591-6CA69B9C85A9}"/>
              </a:ext>
            </a:extLst>
          </p:cNvPr>
          <p:cNvSpPr>
            <a:spLocks noGrp="1"/>
          </p:cNvSpPr>
          <p:nvPr/>
        </p:nvSpPr>
        <p:spPr>
          <a:xfrm>
            <a:off x="5391150" y="5257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17" lnSpcReduction="10000"/>
          </a:bodyPr>
          <a:lstStyle/>
          <a:p>
            <a:pPr algn="l"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LEDGER</a:t>
            </a:r>
          </a:p>
        </p:txBody>
      </p:sp>
      <p:sp>
        <p:nvSpPr>
          <p:cNvPr id="10" name="cover-node-2">
            <a:extLst>
              <a:ext uri="{FF2B5EF4-FFF2-40B4-BE49-F238E27FC236}">
                <a16:creationId xmlns:a16="http://schemas.microsoft.com/office/drawing/2014/main" id="{F3D05308-D376-4D42-8197-9B941EF76661}"/>
              </a:ext>
            </a:extLst>
          </p:cNvPr>
          <p:cNvSpPr>
            <a:spLocks noGrp="1"/>
          </p:cNvSpPr>
          <p:nvPr/>
        </p:nvSpPr>
        <p:spPr>
          <a:xfrm>
            <a:off x="10153650" y="4914900"/>
            <a:ext cx="190500" cy="19050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ver-label-2">
            <a:extLst>
              <a:ext uri="{FF2B5EF4-FFF2-40B4-BE49-F238E27FC236}">
                <a16:creationId xmlns:a16="http://schemas.microsoft.com/office/drawing/2014/main" id="{775BD296-1D49-4D7F-9685-9BD1C43E4EDF}"/>
              </a:ext>
            </a:extLst>
          </p:cNvPr>
          <p:cNvSpPr>
            <a:spLocks noGrp="1"/>
          </p:cNvSpPr>
          <p:nvPr/>
        </p:nvSpPr>
        <p:spPr>
          <a:xfrm>
            <a:off x="10153650" y="5257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917" lnSpcReduction="10000"/>
          </a:bodyPr>
          <a:lstStyle/>
          <a:p>
            <a:pPr algn="l"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CODING AGENT</a:t>
            </a:r>
          </a:p>
        </p:txBody>
      </p:sp>
      <p:sp>
        <p:nvSpPr>
          <p:cNvPr id="12" name="cover-team">
            <a:extLst>
              <a:ext uri="{FF2B5EF4-FFF2-40B4-BE49-F238E27FC236}">
                <a16:creationId xmlns:a16="http://schemas.microsoft.com/office/drawing/2014/main" id="{BA8CDEF7-3C95-4689-8101-FDDED4098EBD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Bryan Yang  |  Will Liu  |  Guadalupe Cantera</a:t>
            </a:r>
          </a:p>
        </p:txBody>
      </p:sp>
    </p:spTree>
    <p:extLst>
      <p:ext uri="{BB962C8B-B14F-4D97-AF65-F5344CB8AC3E}">
        <p14:creationId xmlns:p14="http://schemas.microsoft.com/office/powerpoint/2010/main" val="128493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2-title">
            <a:extLst>
              <a:ext uri="{FF2B5EF4-FFF2-40B4-BE49-F238E27FC236}">
                <a16:creationId xmlns:a16="http://schemas.microsoft.com/office/drawing/2014/main" id="{3CF3B1B1-EFD1-42E5-9447-D5BF1370F497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057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Relevant context can still be wrong</a:t>
            </a:r>
          </a:p>
        </p:txBody>
      </p:sp>
      <p:sp>
        <p:nvSpPr>
          <p:cNvPr id="2" name="slide-2-number">
            <a:extLst>
              <a:ext uri="{FF2B5EF4-FFF2-40B4-BE49-F238E27FC236}">
                <a16:creationId xmlns:a16="http://schemas.microsoft.com/office/drawing/2014/main" id="{CD82E69D-8990-41CB-A776-5078FAE8D556}"/>
              </a:ext>
            </a:extLst>
          </p:cNvPr>
          <p:cNvSpPr>
            <a:spLocks noGrp="1"/>
          </p:cNvSpPr>
          <p:nvPr/>
        </p:nvSpPr>
        <p:spPr>
          <a:xfrm>
            <a:off x="11334750" y="4095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lide-2-accent">
            <a:extLst>
              <a:ext uri="{FF2B5EF4-FFF2-40B4-BE49-F238E27FC236}">
                <a16:creationId xmlns:a16="http://schemas.microsoft.com/office/drawing/2014/main" id="{10C60AE1-28A8-45DF-9698-E7F0DA57AC2E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838200" cy="571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roblem-lead">
            <a:extLst>
              <a:ext uri="{FF2B5EF4-FFF2-40B4-BE49-F238E27FC236}">
                <a16:creationId xmlns:a16="http://schemas.microsoft.com/office/drawing/2014/main" id="{406BDF06-323C-4456-8EA9-C420293AE9AB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624" lnSpcReduction="20000"/>
          </a:bodyPr>
          <a:lstStyle/>
          <a:p>
            <a:pPr algn="l">
              <a:defRPr sz="20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Coding agents combine useful information from many sources, but relevance does not guarantee validity.</a:t>
            </a:r>
          </a:p>
        </p:txBody>
      </p:sp>
      <p:sp>
        <p:nvSpPr>
          <p:cNvPr id="5" name="source-card">
            <a:extLst>
              <a:ext uri="{FF2B5EF4-FFF2-40B4-BE49-F238E27FC236}">
                <a16:creationId xmlns:a16="http://schemas.microsoft.com/office/drawing/2014/main" id="{130E66C0-5A90-4702-82AF-45070F594AF7}"/>
              </a:ext>
            </a:extLst>
          </p:cNvPr>
          <p:cNvSpPr>
            <a:spLocks noGrp="1"/>
          </p:cNvSpPr>
          <p:nvPr/>
        </p:nvSpPr>
        <p:spPr>
          <a:xfrm>
            <a:off x="552450" y="2333625"/>
            <a:ext cx="5124450" cy="3143250"/>
          </a:xfrm>
          <a:prstGeom prst="roundRect">
            <a:avLst>
              <a:gd name="adj" fmla="val 4848"/>
            </a:avLst>
          </a:prstGeom>
          <a:solidFill>
            <a:srgbClr val="EEF1F4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ource-title">
            <a:extLst>
              <a:ext uri="{FF2B5EF4-FFF2-40B4-BE49-F238E27FC236}">
                <a16:creationId xmlns:a16="http://schemas.microsoft.com/office/drawing/2014/main" id="{1E4BA5F2-3A0A-4897-8979-0232BD6EED4E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enters the candidate pool</a:t>
            </a:r>
          </a:p>
        </p:txBody>
      </p:sp>
      <p:sp>
        <p:nvSpPr>
          <p:cNvPr id="7" name="source-0-dot">
            <a:extLst>
              <a:ext uri="{FF2B5EF4-FFF2-40B4-BE49-F238E27FC236}">
                <a16:creationId xmlns:a16="http://schemas.microsoft.com/office/drawing/2014/main" id="{B35FBC7F-D029-47D8-9F5C-31E0BC6749F7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ource-0">
            <a:extLst>
              <a:ext uri="{FF2B5EF4-FFF2-40B4-BE49-F238E27FC236}">
                <a16:creationId xmlns:a16="http://schemas.microsoft.com/office/drawing/2014/main" id="{9997A720-836D-4F76-9133-2C3A4564539F}"/>
              </a:ext>
            </a:extLst>
          </p:cNvPr>
          <p:cNvSpPr>
            <a:spLocks noGrp="1"/>
          </p:cNvSpPr>
          <p:nvPr/>
        </p:nvSpPr>
        <p:spPr>
          <a:xfrm>
            <a:off x="1028700" y="3228975"/>
            <a:ext cx="407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User tasks and target files</a:t>
            </a:r>
          </a:p>
        </p:txBody>
      </p:sp>
      <p:sp>
        <p:nvSpPr>
          <p:cNvPr id="9" name="source-1-dot">
            <a:extLst>
              <a:ext uri="{FF2B5EF4-FFF2-40B4-BE49-F238E27FC236}">
                <a16:creationId xmlns:a16="http://schemas.microsoft.com/office/drawing/2014/main" id="{1CDF8C77-7A9D-4940-9425-126A2690DBD6}"/>
              </a:ext>
            </a:extLst>
          </p:cNvPr>
          <p:cNvSpPr>
            <a:spLocks noGrp="1"/>
          </p:cNvSpPr>
          <p:nvPr/>
        </p:nvSpPr>
        <p:spPr>
          <a:xfrm>
            <a:off x="838200" y="37814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ource-1">
            <a:extLst>
              <a:ext uri="{FF2B5EF4-FFF2-40B4-BE49-F238E27FC236}">
                <a16:creationId xmlns:a16="http://schemas.microsoft.com/office/drawing/2014/main" id="{D67BAC7C-5D82-40F5-BCC4-2F3C8AA266EA}"/>
              </a:ext>
            </a:extLst>
          </p:cNvPr>
          <p:cNvSpPr>
            <a:spLocks noGrp="1"/>
          </p:cNvSpPr>
          <p:nvPr/>
        </p:nvSpPr>
        <p:spPr>
          <a:xfrm>
            <a:off x="1028700" y="3695700"/>
            <a:ext cx="407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Repository and directory rules</a:t>
            </a:r>
          </a:p>
        </p:txBody>
      </p:sp>
      <p:sp>
        <p:nvSpPr>
          <p:cNvPr id="11" name="source-2-dot">
            <a:extLst>
              <a:ext uri="{FF2B5EF4-FFF2-40B4-BE49-F238E27FC236}">
                <a16:creationId xmlns:a16="http://schemas.microsoft.com/office/drawing/2014/main" id="{198FC06D-6869-47DB-8092-CBA016C0C297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ource-2">
            <a:extLst>
              <a:ext uri="{FF2B5EF4-FFF2-40B4-BE49-F238E27FC236}">
                <a16:creationId xmlns:a16="http://schemas.microsoft.com/office/drawing/2014/main" id="{3874E06B-B50F-4080-89B5-0C55D2FDB760}"/>
              </a:ext>
            </a:extLst>
          </p:cNvPr>
          <p:cNvSpPr>
            <a:spLocks noGrp="1"/>
          </p:cNvSpPr>
          <p:nvPr/>
        </p:nvSpPr>
        <p:spPr>
          <a:xfrm>
            <a:off x="1028700" y="4162425"/>
            <a:ext cx="407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Documentation and tool output</a:t>
            </a:r>
          </a:p>
        </p:txBody>
      </p:sp>
      <p:sp>
        <p:nvSpPr>
          <p:cNvPr id="13" name="source-3-dot">
            <a:extLst>
              <a:ext uri="{FF2B5EF4-FFF2-40B4-BE49-F238E27FC236}">
                <a16:creationId xmlns:a16="http://schemas.microsoft.com/office/drawing/2014/main" id="{454B92CD-86BE-4CBB-9682-CDB4983688CB}"/>
              </a:ext>
            </a:extLst>
          </p:cNvPr>
          <p:cNvSpPr>
            <a:spLocks noGrp="1"/>
          </p:cNvSpPr>
          <p:nvPr/>
        </p:nvSpPr>
        <p:spPr>
          <a:xfrm>
            <a:off x="838200" y="47148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ource-3">
            <a:extLst>
              <a:ext uri="{FF2B5EF4-FFF2-40B4-BE49-F238E27FC236}">
                <a16:creationId xmlns:a16="http://schemas.microsoft.com/office/drawing/2014/main" id="{623A1EB9-C0EA-48EA-84A6-AD046D73385D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407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Memories from previous runs</a:t>
            </a:r>
          </a:p>
        </p:txBody>
      </p:sp>
      <p:sp>
        <p:nvSpPr>
          <p:cNvPr id="15" name="risk-card">
            <a:extLst>
              <a:ext uri="{FF2B5EF4-FFF2-40B4-BE49-F238E27FC236}">
                <a16:creationId xmlns:a16="http://schemas.microsoft.com/office/drawing/2014/main" id="{5018354A-2B69-4CA0-9D6A-BA661CED5447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5124450" cy="3143250"/>
          </a:xfrm>
          <a:prstGeom prst="roundRect">
            <a:avLst>
              <a:gd name="adj" fmla="val 4848"/>
            </a:avLst>
          </a:prstGeom>
          <a:solidFill>
            <a:srgbClr val="FCE9E9"/>
          </a:solidFill>
          <a:ln w="9525">
            <a:solidFill>
              <a:srgbClr val="EAB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isk-title">
            <a:extLst>
              <a:ext uri="{FF2B5EF4-FFF2-40B4-BE49-F238E27FC236}">
                <a16:creationId xmlns:a16="http://schemas.microsoft.com/office/drawing/2014/main" id="{48C2E088-6676-431E-9B80-525D3E05450B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Why visibility matters</a:t>
            </a:r>
          </a:p>
        </p:txBody>
      </p:sp>
      <p:sp>
        <p:nvSpPr>
          <p:cNvPr id="17" name="risk-0-dot">
            <a:extLst>
              <a:ext uri="{FF2B5EF4-FFF2-40B4-BE49-F238E27FC236}">
                <a16:creationId xmlns:a16="http://schemas.microsoft.com/office/drawing/2014/main" id="{D7548994-145F-40AB-830E-6EE33DC4CE87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isk-0">
            <a:extLst>
              <a:ext uri="{FF2B5EF4-FFF2-40B4-BE49-F238E27FC236}">
                <a16:creationId xmlns:a16="http://schemas.microsoft.com/office/drawing/2014/main" id="{94EB5648-C486-4C4E-994C-1A69285D32A6}"/>
              </a:ext>
            </a:extLst>
          </p:cNvPr>
          <p:cNvSpPr>
            <a:spLocks noGrp="1"/>
          </p:cNvSpPr>
          <p:nvPr/>
        </p:nvSpPr>
        <p:spPr>
          <a:xfrm>
            <a:off x="6591300" y="3228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Stale or superseded</a:t>
            </a:r>
          </a:p>
        </p:txBody>
      </p:sp>
      <p:sp>
        <p:nvSpPr>
          <p:cNvPr id="19" name="risk-1-dot">
            <a:extLst>
              <a:ext uri="{FF2B5EF4-FFF2-40B4-BE49-F238E27FC236}">
                <a16:creationId xmlns:a16="http://schemas.microsoft.com/office/drawing/2014/main" id="{A3237589-15BB-4F1B-99B7-B6E21CEFDCAC}"/>
              </a:ext>
            </a:extLst>
          </p:cNvPr>
          <p:cNvSpPr>
            <a:spLocks noGrp="1"/>
          </p:cNvSpPr>
          <p:nvPr/>
        </p:nvSpPr>
        <p:spPr>
          <a:xfrm>
            <a:off x="6400800" y="378142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isk-1">
            <a:extLst>
              <a:ext uri="{FF2B5EF4-FFF2-40B4-BE49-F238E27FC236}">
                <a16:creationId xmlns:a16="http://schemas.microsoft.com/office/drawing/2014/main" id="{784C6F58-A634-41E8-9A5B-3C03FF333F8F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Outside the target path</a:t>
            </a:r>
          </a:p>
        </p:txBody>
      </p:sp>
      <p:sp>
        <p:nvSpPr>
          <p:cNvPr id="21" name="risk-2-dot">
            <a:extLst>
              <a:ext uri="{FF2B5EF4-FFF2-40B4-BE49-F238E27FC236}">
                <a16:creationId xmlns:a16="http://schemas.microsoft.com/office/drawing/2014/main" id="{71AC39D1-E1C0-4316-B384-EA72A572EC9D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isk-2">
            <a:extLst>
              <a:ext uri="{FF2B5EF4-FFF2-40B4-BE49-F238E27FC236}">
                <a16:creationId xmlns:a16="http://schemas.microsoft.com/office/drawing/2014/main" id="{225DE7EF-A0CD-41E5-880C-B3BA6B2C5130}"/>
              </a:ext>
            </a:extLst>
          </p:cNvPr>
          <p:cNvSpPr>
            <a:spLocks noGrp="1"/>
          </p:cNvSpPr>
          <p:nvPr/>
        </p:nvSpPr>
        <p:spPr>
          <a:xfrm>
            <a:off x="6591300" y="416242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Duplicated or untrusted</a:t>
            </a:r>
          </a:p>
        </p:txBody>
      </p:sp>
      <p:sp>
        <p:nvSpPr>
          <p:cNvPr id="23" name="risk-3-dot">
            <a:extLst>
              <a:ext uri="{FF2B5EF4-FFF2-40B4-BE49-F238E27FC236}">
                <a16:creationId xmlns:a16="http://schemas.microsoft.com/office/drawing/2014/main" id="{00448E65-46E3-404C-98A4-609430CFF634}"/>
              </a:ext>
            </a:extLst>
          </p:cNvPr>
          <p:cNvSpPr>
            <a:spLocks noGrp="1"/>
          </p:cNvSpPr>
          <p:nvPr/>
        </p:nvSpPr>
        <p:spPr>
          <a:xfrm>
            <a:off x="6400800" y="4714875"/>
            <a:ext cx="76200" cy="762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isk-3">
            <a:extLst>
              <a:ext uri="{FF2B5EF4-FFF2-40B4-BE49-F238E27FC236}">
                <a16:creationId xmlns:a16="http://schemas.microsoft.com/office/drawing/2014/main" id="{A0CDBC23-4699-4C64-9D76-13C737AB74AA}"/>
              </a:ext>
            </a:extLst>
          </p:cNvPr>
          <p:cNvSpPr>
            <a:spLocks noGrp="1"/>
          </p:cNvSpPr>
          <p:nvPr/>
        </p:nvSpPr>
        <p:spPr>
          <a:xfrm>
            <a:off x="6591300" y="46291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Mutually inconsistent</a:t>
            </a:r>
          </a:p>
        </p:txBody>
      </p:sp>
      <p:sp>
        <p:nvSpPr>
          <p:cNvPr id="25" name="problem-close">
            <a:extLst>
              <a:ext uri="{FF2B5EF4-FFF2-40B4-BE49-F238E27FC236}">
                <a16:creationId xmlns:a16="http://schemas.microsoft.com/office/drawing/2014/main" id="{C76C6E83-9A35-4407-8BD7-5036196A59C0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7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Without an evidence trail, failures are difficult to explain, reproduce, or evaluate.</a:t>
            </a:r>
          </a:p>
        </p:txBody>
      </p:sp>
    </p:spTree>
    <p:extLst>
      <p:ext uri="{BB962C8B-B14F-4D97-AF65-F5344CB8AC3E}">
        <p14:creationId xmlns:p14="http://schemas.microsoft.com/office/powerpoint/2010/main" val="132670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3-title">
            <a:extLst>
              <a:ext uri="{FF2B5EF4-FFF2-40B4-BE49-F238E27FC236}">
                <a16:creationId xmlns:a16="http://schemas.microsoft.com/office/drawing/2014/main" id="{7CC81EEE-6B78-4939-AB0B-78CDC208904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068616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051"/>
          </a:bodyPr>
          <a:lstStyle/>
          <a:p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Governance creates an inspectable evidence chain</a:t>
            </a:r>
          </a:p>
        </p:txBody>
      </p:sp>
      <p:sp>
        <p:nvSpPr>
          <p:cNvPr id="2" name="slide-3-number">
            <a:extLst>
              <a:ext uri="{FF2B5EF4-FFF2-40B4-BE49-F238E27FC236}">
                <a16:creationId xmlns:a16="http://schemas.microsoft.com/office/drawing/2014/main" id="{1472476A-0631-457D-9240-B96AB78183F8}"/>
              </a:ext>
            </a:extLst>
          </p:cNvPr>
          <p:cNvSpPr>
            <a:spLocks noGrp="1"/>
          </p:cNvSpPr>
          <p:nvPr/>
        </p:nvSpPr>
        <p:spPr>
          <a:xfrm>
            <a:off x="11334750" y="4095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lide-3-accent">
            <a:extLst>
              <a:ext uri="{FF2B5EF4-FFF2-40B4-BE49-F238E27FC236}">
                <a16:creationId xmlns:a16="http://schemas.microsoft.com/office/drawing/2014/main" id="{0F4614D8-B96F-4660-8D69-A7FB6AC42BA1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838200" cy="571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0" name="flow-line"/>
          <p:cNvCxnSpPr/>
          <p:nvPr/>
        </p:nvCxnSpPr>
        <p:spPr>
          <a:xfrm>
            <a:off x="1066800" y="3219450"/>
            <a:ext cx="9658350" cy="0"/>
          </a:xfrm>
          <a:prstGeom prst="straightConnector1">
            <a:avLst/>
          </a:prstGeom>
          <a:ln w="47625">
            <a:solidFill>
              <a:srgbClr val="2563EB"/>
            </a:solidFill>
            <a:prstDash val="solid"/>
          </a:ln>
        </p:spPr>
      </p:cxnSp>
      <p:sp>
        <p:nvSpPr>
          <p:cNvPr id="5" name="flow-node-0">
            <a:extLst>
              <a:ext uri="{FF2B5EF4-FFF2-40B4-BE49-F238E27FC236}">
                <a16:creationId xmlns:a16="http://schemas.microsoft.com/office/drawing/2014/main" id="{BFD3F248-85DB-49A7-94CE-19871C28131D}"/>
              </a:ext>
            </a:extLst>
          </p:cNvPr>
          <p:cNvSpPr>
            <a:spLocks noGrp="1"/>
          </p:cNvSpPr>
          <p:nvPr/>
        </p:nvSpPr>
        <p:spPr>
          <a:xfrm>
            <a:off x="1314450" y="2971800"/>
            <a:ext cx="495300" cy="4953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num-0">
            <a:extLst>
              <a:ext uri="{FF2B5EF4-FFF2-40B4-BE49-F238E27FC236}">
                <a16:creationId xmlns:a16="http://schemas.microsoft.com/office/drawing/2014/main" id="{596FB994-FF05-4775-A985-94EF87B687E8}"/>
              </a:ext>
            </a:extLst>
          </p:cNvPr>
          <p:cNvSpPr>
            <a:spLocks noGrp="1"/>
          </p:cNvSpPr>
          <p:nvPr/>
        </p:nvSpPr>
        <p:spPr>
          <a:xfrm>
            <a:off x="1314450" y="30575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flow-title-0">
            <a:extLst>
              <a:ext uri="{FF2B5EF4-FFF2-40B4-BE49-F238E27FC236}">
                <a16:creationId xmlns:a16="http://schemas.microsoft.com/office/drawing/2014/main" id="{23D6BEA2-0B24-42F4-A326-EAB06AAEE6F5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4444"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Candidate context</a:t>
            </a:r>
          </a:p>
        </p:txBody>
      </p:sp>
      <p:sp>
        <p:nvSpPr>
          <p:cNvPr id="8" name="flow-body-0">
            <a:extLst>
              <a:ext uri="{FF2B5EF4-FFF2-40B4-BE49-F238E27FC236}">
                <a16:creationId xmlns:a16="http://schemas.microsoft.com/office/drawing/2014/main" id="{781248D5-BE6A-45F5-BEF2-04E9CA056E18}"/>
              </a:ext>
            </a:extLst>
          </p:cNvPr>
          <p:cNvSpPr>
            <a:spLocks noGrp="1"/>
          </p:cNvSpPr>
          <p:nvPr/>
        </p:nvSpPr>
        <p:spPr>
          <a:xfrm>
            <a:off x="552450" y="3762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Task, rules, docs, memories</a:t>
            </a:r>
          </a:p>
        </p:txBody>
      </p:sp>
      <p:sp>
        <p:nvSpPr>
          <p:cNvPr id="9" name="flow-node-1">
            <a:extLst>
              <a:ext uri="{FF2B5EF4-FFF2-40B4-BE49-F238E27FC236}">
                <a16:creationId xmlns:a16="http://schemas.microsoft.com/office/drawing/2014/main" id="{33ECA51B-C2A4-4A58-8E10-B0CC1E61A639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495300" cy="4953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low-num-1">
            <a:extLst>
              <a:ext uri="{FF2B5EF4-FFF2-40B4-BE49-F238E27FC236}">
                <a16:creationId xmlns:a16="http://schemas.microsoft.com/office/drawing/2014/main" id="{9742B7C7-D0CB-428D-9CE5-2BB3B75977E9}"/>
              </a:ext>
            </a:extLst>
          </p:cNvPr>
          <p:cNvSpPr>
            <a:spLocks noGrp="1"/>
          </p:cNvSpPr>
          <p:nvPr/>
        </p:nvSpPr>
        <p:spPr>
          <a:xfrm>
            <a:off x="3581400" y="30575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flow-title-1">
            <a:extLst>
              <a:ext uri="{FF2B5EF4-FFF2-40B4-BE49-F238E27FC236}">
                <a16:creationId xmlns:a16="http://schemas.microsoft.com/office/drawing/2014/main" id="{A930873E-F4EF-4E03-8289-8F6A204CF9C9}"/>
              </a:ext>
            </a:extLst>
          </p:cNvPr>
          <p:cNvSpPr>
            <a:spLocks noGrp="1"/>
          </p:cNvSpPr>
          <p:nvPr/>
        </p:nvSpPr>
        <p:spPr>
          <a:xfrm>
            <a:off x="2819400" y="20764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2" name="flow-body-1">
            <a:extLst>
              <a:ext uri="{FF2B5EF4-FFF2-40B4-BE49-F238E27FC236}">
                <a16:creationId xmlns:a16="http://schemas.microsoft.com/office/drawing/2014/main" id="{D92B692E-5264-4B41-B7E9-E36525FEF1BF}"/>
              </a:ext>
            </a:extLst>
          </p:cNvPr>
          <p:cNvSpPr>
            <a:spLocks noGrp="1"/>
          </p:cNvSpPr>
          <p:nvPr/>
        </p:nvSpPr>
        <p:spPr>
          <a:xfrm>
            <a:off x="2819400" y="3762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Admit, reject, quarantine, deduplicate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7EB18341-8C7B-4A39-9930-60A6BC2B7596}"/>
              </a:ext>
            </a:extLst>
          </p:cNvPr>
          <p:cNvSpPr>
            <a:spLocks noGrp="1"/>
          </p:cNvSpPr>
          <p:nvPr/>
        </p:nvSpPr>
        <p:spPr>
          <a:xfrm>
            <a:off x="5848350" y="2971800"/>
            <a:ext cx="495300" cy="495300"/>
          </a:xfrm>
          <a:prstGeom prst="ellipse">
            <a:avLst/>
          </a:prstGeom>
          <a:solidFill>
            <a:srgbClr val="21B6D7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low-num-2">
            <a:extLst>
              <a:ext uri="{FF2B5EF4-FFF2-40B4-BE49-F238E27FC236}">
                <a16:creationId xmlns:a16="http://schemas.microsoft.com/office/drawing/2014/main" id="{A73669E7-5174-4A4F-95E2-FE6915F8A4F4}"/>
              </a:ext>
            </a:extLst>
          </p:cNvPr>
          <p:cNvSpPr>
            <a:spLocks noGrp="1"/>
          </p:cNvSpPr>
          <p:nvPr/>
        </p:nvSpPr>
        <p:spPr>
          <a:xfrm>
            <a:off x="5848350" y="30575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flow-title-2">
            <a:extLst>
              <a:ext uri="{FF2B5EF4-FFF2-40B4-BE49-F238E27FC236}">
                <a16:creationId xmlns:a16="http://schemas.microsoft.com/office/drawing/2014/main" id="{12ADAE08-54CB-4D42-8DE3-0C157C10C3FB}"/>
              </a:ext>
            </a:extLst>
          </p:cNvPr>
          <p:cNvSpPr>
            <a:spLocks noGrp="1"/>
          </p:cNvSpPr>
          <p:nvPr/>
        </p:nvSpPr>
        <p:spPr>
          <a:xfrm>
            <a:off x="5086350" y="20764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 ledger</a:t>
            </a:r>
          </a:p>
        </p:txBody>
      </p:sp>
      <p:sp>
        <p:nvSpPr>
          <p:cNvPr id="16" name="flow-body-2">
            <a:extLst>
              <a:ext uri="{FF2B5EF4-FFF2-40B4-BE49-F238E27FC236}">
                <a16:creationId xmlns:a16="http://schemas.microsoft.com/office/drawing/2014/main" id="{35CB4921-5F19-454F-B1EA-9B39E823C08A}"/>
              </a:ext>
            </a:extLst>
          </p:cNvPr>
          <p:cNvSpPr>
            <a:spLocks noGrp="1"/>
          </p:cNvSpPr>
          <p:nvPr/>
        </p:nvSpPr>
        <p:spPr>
          <a:xfrm>
            <a:off x="5086350" y="3762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Reasons, provenance, policy version</a:t>
            </a:r>
          </a:p>
        </p:txBody>
      </p:sp>
      <p:sp>
        <p:nvSpPr>
          <p:cNvPr id="17" name="flow-node-3">
            <a:extLst>
              <a:ext uri="{FF2B5EF4-FFF2-40B4-BE49-F238E27FC236}">
                <a16:creationId xmlns:a16="http://schemas.microsoft.com/office/drawing/2014/main" id="{56CCE0B6-9C08-414E-BB1D-4C8E5CC527BF}"/>
              </a:ext>
            </a:extLst>
          </p:cNvPr>
          <p:cNvSpPr>
            <a:spLocks noGrp="1"/>
          </p:cNvSpPr>
          <p:nvPr/>
        </p:nvSpPr>
        <p:spPr>
          <a:xfrm>
            <a:off x="8115300" y="2971800"/>
            <a:ext cx="495300" cy="4953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low-num-3">
            <a:extLst>
              <a:ext uri="{FF2B5EF4-FFF2-40B4-BE49-F238E27FC236}">
                <a16:creationId xmlns:a16="http://schemas.microsoft.com/office/drawing/2014/main" id="{3E216EB4-EAAC-4492-9D8B-D4936E90B93E}"/>
              </a:ext>
            </a:extLst>
          </p:cNvPr>
          <p:cNvSpPr>
            <a:spLocks noGrp="1"/>
          </p:cNvSpPr>
          <p:nvPr/>
        </p:nvSpPr>
        <p:spPr>
          <a:xfrm>
            <a:off x="8115300" y="30575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flow-title-3">
            <a:extLst>
              <a:ext uri="{FF2B5EF4-FFF2-40B4-BE49-F238E27FC236}">
                <a16:creationId xmlns:a16="http://schemas.microsoft.com/office/drawing/2014/main" id="{92F2D161-EB83-4723-BEF7-CDB5C6D9E7B0}"/>
              </a:ext>
            </a:extLst>
          </p:cNvPr>
          <p:cNvSpPr>
            <a:spLocks noGrp="1"/>
          </p:cNvSpPr>
          <p:nvPr/>
        </p:nvSpPr>
        <p:spPr>
          <a:xfrm>
            <a:off x="7353300" y="20764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Coding model</a:t>
            </a:r>
          </a:p>
        </p:txBody>
      </p:sp>
      <p:sp>
        <p:nvSpPr>
          <p:cNvPr id="20" name="flow-body-3">
            <a:extLst>
              <a:ext uri="{FF2B5EF4-FFF2-40B4-BE49-F238E27FC236}">
                <a16:creationId xmlns:a16="http://schemas.microsoft.com/office/drawing/2014/main" id="{9678FBB1-339A-408D-8E72-8792761401EE}"/>
              </a:ext>
            </a:extLst>
          </p:cNvPr>
          <p:cNvSpPr>
            <a:spLocks noGrp="1"/>
          </p:cNvSpPr>
          <p:nvPr/>
        </p:nvSpPr>
        <p:spPr>
          <a:xfrm>
            <a:off x="7353300" y="3762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Exact governed or ungoverned input</a:t>
            </a:r>
          </a:p>
        </p:txBody>
      </p:sp>
      <p:sp>
        <p:nvSpPr>
          <p:cNvPr id="21" name="flow-node-4">
            <a:extLst>
              <a:ext uri="{FF2B5EF4-FFF2-40B4-BE49-F238E27FC236}">
                <a16:creationId xmlns:a16="http://schemas.microsoft.com/office/drawing/2014/main" id="{0CE6113A-CB00-4CCB-BE0F-889288807277}"/>
              </a:ext>
            </a:extLst>
          </p:cNvPr>
          <p:cNvSpPr>
            <a:spLocks noGrp="1"/>
          </p:cNvSpPr>
          <p:nvPr/>
        </p:nvSpPr>
        <p:spPr>
          <a:xfrm>
            <a:off x="10382250" y="2971800"/>
            <a:ext cx="495300" cy="495300"/>
          </a:xfrm>
          <a:prstGeom prst="ellipse">
            <a:avLst/>
          </a:prstGeom>
          <a:solidFill>
            <a:srgbClr val="2563E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low-num-4">
            <a:extLst>
              <a:ext uri="{FF2B5EF4-FFF2-40B4-BE49-F238E27FC236}">
                <a16:creationId xmlns:a16="http://schemas.microsoft.com/office/drawing/2014/main" id="{D552CD03-05AA-434E-BF50-9573A5E46F90}"/>
              </a:ext>
            </a:extLst>
          </p:cNvPr>
          <p:cNvSpPr>
            <a:spLocks noGrp="1"/>
          </p:cNvSpPr>
          <p:nvPr/>
        </p:nvSpPr>
        <p:spPr>
          <a:xfrm>
            <a:off x="10382250" y="30575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flow-title-4">
            <a:extLst>
              <a:ext uri="{FF2B5EF4-FFF2-40B4-BE49-F238E27FC236}">
                <a16:creationId xmlns:a16="http://schemas.microsoft.com/office/drawing/2014/main" id="{27D0D586-2BAC-4719-8957-9F65487097B3}"/>
              </a:ext>
            </a:extLst>
          </p:cNvPr>
          <p:cNvSpPr>
            <a:spLocks noGrp="1"/>
          </p:cNvSpPr>
          <p:nvPr/>
        </p:nvSpPr>
        <p:spPr>
          <a:xfrm>
            <a:off x="9620250" y="20764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4444"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Evaluated outcome</a:t>
            </a:r>
          </a:p>
        </p:txBody>
      </p:sp>
      <p:sp>
        <p:nvSpPr>
          <p:cNvPr id="24" name="flow-body-4">
            <a:extLst>
              <a:ext uri="{FF2B5EF4-FFF2-40B4-BE49-F238E27FC236}">
                <a16:creationId xmlns:a16="http://schemas.microsoft.com/office/drawing/2014/main" id="{C62BCA14-36FD-4073-BC01-977F56B37C0C}"/>
              </a:ext>
            </a:extLst>
          </p:cNvPr>
          <p:cNvSpPr>
            <a:spLocks noGrp="1"/>
          </p:cNvSpPr>
          <p:nvPr/>
        </p:nvSpPr>
        <p:spPr>
          <a:xfrm>
            <a:off x="9620250" y="3762375"/>
            <a:ext cx="200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Edits, tests, violations, tokens, latency</a:t>
            </a:r>
          </a:p>
        </p:txBody>
      </p:sp>
      <p:sp>
        <p:nvSpPr>
          <p:cNvPr id="25" name="trace-callout">
            <a:extLst>
              <a:ext uri="{FF2B5EF4-FFF2-40B4-BE49-F238E27FC236}">
                <a16:creationId xmlns:a16="http://schemas.microsoft.com/office/drawing/2014/main" id="{16479726-6E6C-42A0-9AF2-739C7F5CFF10}"/>
              </a:ext>
            </a:extLst>
          </p:cNvPr>
          <p:cNvSpPr>
            <a:spLocks noGrp="1"/>
          </p:cNvSpPr>
          <p:nvPr/>
        </p:nvSpPr>
        <p:spPr>
          <a:xfrm>
            <a:off x="2095500" y="5191125"/>
            <a:ext cx="8001000" cy="781050"/>
          </a:xfrm>
          <a:prstGeom prst="roundRect">
            <a:avLst>
              <a:gd name="adj" fmla="val 14634"/>
            </a:avLst>
          </a:prstGeom>
          <a:solidFill>
            <a:srgbClr val="EAF2FF"/>
          </a:solidFill>
          <a:ln w="9525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race-callout-text">
            <a:extLst>
              <a:ext uri="{FF2B5EF4-FFF2-40B4-BE49-F238E27FC236}">
                <a16:creationId xmlns:a16="http://schemas.microsoft.com/office/drawing/2014/main" id="{3F2423AD-1B72-4082-9762-21CD461C06E0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722" lnSpcReduction="10000"/>
          </a:bodyPr>
          <a:lstStyle/>
          <a:p>
            <a:pPr algn="ctr">
              <a:defRPr sz="157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The trace records what reached the model and what happened next. It does not claim to reveal private model reasoning.</a:t>
            </a:r>
          </a:p>
        </p:txBody>
      </p:sp>
    </p:spTree>
    <p:extLst>
      <p:ext uri="{BB962C8B-B14F-4D97-AF65-F5344CB8AC3E}">
        <p14:creationId xmlns:p14="http://schemas.microsoft.com/office/powerpoint/2010/main" val="172114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4-title">
            <a:extLst>
              <a:ext uri="{FF2B5EF4-FFF2-40B4-BE49-F238E27FC236}">
                <a16:creationId xmlns:a16="http://schemas.microsoft.com/office/drawing/2014/main" id="{EAFF33C1-409C-4A7D-9312-75A7269EC39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057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66"/>
          </a:bodyPr>
          <a:lstStyle/>
          <a:p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same task is tested with and without governance</a:t>
            </a:r>
          </a:p>
        </p:txBody>
      </p:sp>
      <p:sp>
        <p:nvSpPr>
          <p:cNvPr id="2" name="slide-4-number">
            <a:extLst>
              <a:ext uri="{FF2B5EF4-FFF2-40B4-BE49-F238E27FC236}">
                <a16:creationId xmlns:a16="http://schemas.microsoft.com/office/drawing/2014/main" id="{28EF9344-DA90-4CD0-8F7C-0E94A9A431E9}"/>
              </a:ext>
            </a:extLst>
          </p:cNvPr>
          <p:cNvSpPr>
            <a:spLocks noGrp="1"/>
          </p:cNvSpPr>
          <p:nvPr/>
        </p:nvSpPr>
        <p:spPr>
          <a:xfrm>
            <a:off x="11334750" y="4095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lide-4-accent">
            <a:extLst>
              <a:ext uri="{FF2B5EF4-FFF2-40B4-BE49-F238E27FC236}">
                <a16:creationId xmlns:a16="http://schemas.microsoft.com/office/drawing/2014/main" id="{019519DC-0622-4150-8610-2A5C26B283F6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838200" cy="571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red-input-label">
            <a:extLst>
              <a:ext uri="{FF2B5EF4-FFF2-40B4-BE49-F238E27FC236}">
                <a16:creationId xmlns:a16="http://schemas.microsoft.com/office/drawing/2014/main" id="{64DBF2F1-C7AC-4C68-A7A4-D43D8B2404D7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490" lnSpcReduction="10000"/>
          </a:bodyPr>
          <a:lstStyle/>
          <a:p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SHARED CONTROLLED INPUT</a:t>
            </a:r>
          </a:p>
        </p:txBody>
      </p:sp>
      <p:sp>
        <p:nvSpPr>
          <p:cNvPr id="5" name="shared-input">
            <a:extLst>
              <a:ext uri="{FF2B5EF4-FFF2-40B4-BE49-F238E27FC236}">
                <a16:creationId xmlns:a16="http://schemas.microsoft.com/office/drawing/2014/main" id="{CA04F858-8A30-4442-A6B6-7282EB09B569}"/>
              </a:ext>
            </a:extLst>
          </p:cNvPr>
          <p:cNvSpPr>
            <a:spLocks noGrp="1"/>
          </p:cNvSpPr>
          <p:nvPr/>
        </p:nvSpPr>
        <p:spPr>
          <a:xfrm>
            <a:off x="1762125" y="1714500"/>
            <a:ext cx="8667750" cy="609600"/>
          </a:xfrm>
          <a:prstGeom prst="roundRect">
            <a:avLst>
              <a:gd name="adj" fmla="val 18750"/>
            </a:avLst>
          </a:prstGeom>
          <a:solidFill>
            <a:srgbClr val="EAF2FF"/>
          </a:solidFill>
          <a:ln w="9525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red-input-text">
            <a:extLst>
              <a:ext uri="{FF2B5EF4-FFF2-40B4-BE49-F238E27FC236}">
                <a16:creationId xmlns:a16="http://schemas.microsoft.com/office/drawing/2014/main" id="{9C0BD432-AB05-45AA-9484-383DA6FF2531}"/>
              </a:ext>
            </a:extLst>
          </p:cNvPr>
          <p:cNvSpPr>
            <a:spLocks noGrp="1"/>
          </p:cNvSpPr>
          <p:nvPr/>
        </p:nvSpPr>
        <p:spPr>
          <a:xfrm>
            <a:off x="2047875" y="1895475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273" lnSpcReduction="10000"/>
          </a:bodyPr>
          <a:lstStyle/>
          <a:p>
            <a:pPr algn="ctr">
              <a:defRPr sz="1650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Same repository revision, request, candidates, tools, model settings, and trial seed</a:t>
            </a:r>
          </a:p>
        </p:txBody>
      </p:sp>
      <p:cxnSp>
        <p:nvCxnSpPr>
          <p:cNvPr id="23" name="split-left"/>
          <p:cNvCxnSpPr/>
          <p:nvPr/>
        </p:nvCxnSpPr>
        <p:spPr>
          <a:xfrm>
            <a:off x="3238500" y="2324100"/>
            <a:ext cx="2857500" cy="55245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</a:ln>
        </p:spPr>
      </p:cxnSp>
      <p:cxnSp>
        <p:nvCxnSpPr>
          <p:cNvPr id="24" name="split-right"/>
          <p:cNvCxnSpPr/>
          <p:nvPr/>
        </p:nvCxnSpPr>
        <p:spPr>
          <a:xfrm>
            <a:off x="6096000" y="2324100"/>
            <a:ext cx="2857500" cy="552450"/>
          </a:xfrm>
          <a:prstGeom prst="straightConnector1">
            <a:avLst/>
          </a:prstGeom>
          <a:ln w="28575">
            <a:solidFill>
              <a:srgbClr val="CBD5E1"/>
            </a:solidFill>
            <a:prstDash val="solid"/>
          </a:ln>
        </p:spPr>
      </p:cxnSp>
      <p:sp>
        <p:nvSpPr>
          <p:cNvPr id="9" name="ungoverned">
            <a:extLst>
              <a:ext uri="{FF2B5EF4-FFF2-40B4-BE49-F238E27FC236}">
                <a16:creationId xmlns:a16="http://schemas.microsoft.com/office/drawing/2014/main" id="{6289E385-9C0A-4BA7-AB9F-4AC1DBB5043A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5191125" cy="2266950"/>
          </a:xfrm>
          <a:prstGeom prst="roundRect">
            <a:avLst>
              <a:gd name="adj" fmla="val 6723"/>
            </a:avLst>
          </a:prstGeom>
          <a:solidFill>
            <a:srgbClr val="FCE9E9"/>
          </a:solidFill>
          <a:ln w="9525">
            <a:solidFill>
              <a:srgbClr val="EAB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ungoverned-title">
            <a:extLst>
              <a:ext uri="{FF2B5EF4-FFF2-40B4-BE49-F238E27FC236}">
                <a16:creationId xmlns:a16="http://schemas.microsoft.com/office/drawing/2014/main" id="{C423E26B-C347-4D92-ABB3-B67F42D98237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56" lnSpcReduction="10000"/>
          </a:bodyPr>
          <a:lstStyle/>
          <a:p>
            <a:pPr algn="l">
              <a:defRPr sz="217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Without governance</a:t>
            </a:r>
          </a:p>
        </p:txBody>
      </p:sp>
      <p:sp>
        <p:nvSpPr>
          <p:cNvPr id="11" name="ungoverned-body">
            <a:extLst>
              <a:ext uri="{FF2B5EF4-FFF2-40B4-BE49-F238E27FC236}">
                <a16:creationId xmlns:a16="http://schemas.microsoft.com/office/drawing/2014/main" id="{C21D6EC0-E5E1-432C-A3E5-3090DE58290F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4524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 candidate enters model context.</a:t>
            </a:r>
          </a:p>
          <a:p>
            <a:endParaRPr sz="1650" b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Invalid or conflicting material can compete with current repository instructions.</a:t>
            </a:r>
          </a:p>
        </p:txBody>
      </p:sp>
      <p:sp>
        <p:nvSpPr>
          <p:cNvPr id="12" name="governed">
            <a:extLst>
              <a:ext uri="{FF2B5EF4-FFF2-40B4-BE49-F238E27FC236}">
                <a16:creationId xmlns:a16="http://schemas.microsoft.com/office/drawing/2014/main" id="{7FC94469-522F-4734-8C6E-70B12EED5353}"/>
              </a:ext>
            </a:extLst>
          </p:cNvPr>
          <p:cNvSpPr>
            <a:spLocks noGrp="1"/>
          </p:cNvSpPr>
          <p:nvPr/>
        </p:nvSpPr>
        <p:spPr>
          <a:xfrm>
            <a:off x="6067425" y="2876550"/>
            <a:ext cx="5191125" cy="2266950"/>
          </a:xfrm>
          <a:prstGeom prst="roundRect">
            <a:avLst>
              <a:gd name="adj" fmla="val 6723"/>
            </a:avLst>
          </a:prstGeom>
          <a:solidFill>
            <a:srgbClr val="E6F6F0"/>
          </a:solidFill>
          <a:ln w="9525">
            <a:solidFill>
              <a:srgbClr val="A8D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verned-title">
            <a:extLst>
              <a:ext uri="{FF2B5EF4-FFF2-40B4-BE49-F238E27FC236}">
                <a16:creationId xmlns:a16="http://schemas.microsoft.com/office/drawing/2014/main" id="{5CA686CC-0165-4387-A605-D7C550A432A6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856" lnSpcReduction="10000"/>
          </a:bodyPr>
          <a:lstStyle/>
          <a:p>
            <a:pPr algn="l">
              <a:defRPr sz="2175" b="1">
                <a:solidFill>
                  <a:srgbClr val="138A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8A63"/>
                </a:solidFill>
                <a:latin typeface="Arial"/>
                <a:ea typeface="Arial"/>
                <a:cs typeface="Arial"/>
              </a:rPr>
              <a:t>Governance enabled</a:t>
            </a:r>
          </a:p>
        </p:txBody>
      </p:sp>
      <p:sp>
        <p:nvSpPr>
          <p:cNvPr id="14" name="governed-body">
            <a:extLst>
              <a:ext uri="{FF2B5EF4-FFF2-40B4-BE49-F238E27FC236}">
                <a16:creationId xmlns:a16="http://schemas.microsoft.com/office/drawing/2014/main" id="{10F7186B-7453-41C9-8AB3-66C450E3036A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4524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166"/>
          </a:bodyPr>
          <a:lstStyle/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Policies filter, scope, deduplicate, order, and reason-code candidates before inference.</a:t>
            </a:r>
          </a:p>
          <a:p>
            <a:endParaRPr sz="1650" b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model receives the approved context bundle.</a:t>
            </a:r>
          </a:p>
        </p:txBody>
      </p:sp>
      <p:sp>
        <p:nvSpPr>
          <p:cNvPr id="15" name="evaluation-output">
            <a:extLst>
              <a:ext uri="{FF2B5EF4-FFF2-40B4-BE49-F238E27FC236}">
                <a16:creationId xmlns:a16="http://schemas.microsoft.com/office/drawing/2014/main" id="{406E1754-764E-4059-BAB0-B844B0A2D8A2}"/>
              </a:ext>
            </a:extLst>
          </p:cNvPr>
          <p:cNvSpPr>
            <a:spLocks noGrp="1"/>
          </p:cNvSpPr>
          <p:nvPr/>
        </p:nvSpPr>
        <p:spPr>
          <a:xfrm>
            <a:off x="619125" y="555307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COMPARE: invalid-context admission  |  false rejection  |  task success  |  rule violations  |  tokens  |  latency</a:t>
            </a:r>
          </a:p>
        </p:txBody>
      </p:sp>
      <p:sp>
        <p:nvSpPr>
          <p:cNvPr id="16" name="principle">
            <a:extLst>
              <a:ext uri="{FF2B5EF4-FFF2-40B4-BE49-F238E27FC236}">
                <a16:creationId xmlns:a16="http://schemas.microsoft.com/office/drawing/2014/main" id="{764A6A00-9496-455B-BAD7-5AA8B4E3CD3A}"/>
              </a:ext>
            </a:extLst>
          </p:cNvPr>
          <p:cNvSpPr>
            <a:spLocks noGrp="1"/>
          </p:cNvSpPr>
          <p:nvPr/>
        </p:nvSpPr>
        <p:spPr>
          <a:xfrm>
            <a:off x="2952750" y="6143625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952" lnSpcReduction="10000"/>
          </a:bodyPr>
          <a:lstStyle/>
          <a:p>
            <a:pPr algn="ctr">
              <a:defRPr sz="157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Token reduction alone does not count as success.</a:t>
            </a:r>
          </a:p>
        </p:txBody>
      </p:sp>
    </p:spTree>
    <p:extLst>
      <p:ext uri="{BB962C8B-B14F-4D97-AF65-F5344CB8AC3E}">
        <p14:creationId xmlns:p14="http://schemas.microsoft.com/office/powerpoint/2010/main" val="115524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5-title">
            <a:extLst>
              <a:ext uri="{FF2B5EF4-FFF2-40B4-BE49-F238E27FC236}">
                <a16:creationId xmlns:a16="http://schemas.microsoft.com/office/drawing/2014/main" id="{E96A3438-BE85-4C15-A026-05DC4B1ADB94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057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first build stays narrow and bounded</a:t>
            </a:r>
          </a:p>
        </p:txBody>
      </p:sp>
      <p:sp>
        <p:nvSpPr>
          <p:cNvPr id="2" name="slide-5-number">
            <a:extLst>
              <a:ext uri="{FF2B5EF4-FFF2-40B4-BE49-F238E27FC236}">
                <a16:creationId xmlns:a16="http://schemas.microsoft.com/office/drawing/2014/main" id="{91E6F9BA-B625-4349-98CF-604311DD703A}"/>
              </a:ext>
            </a:extLst>
          </p:cNvPr>
          <p:cNvSpPr>
            <a:spLocks noGrp="1"/>
          </p:cNvSpPr>
          <p:nvPr/>
        </p:nvSpPr>
        <p:spPr>
          <a:xfrm>
            <a:off x="11334750" y="4095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lide-5-accent">
            <a:extLst>
              <a:ext uri="{FF2B5EF4-FFF2-40B4-BE49-F238E27FC236}">
                <a16:creationId xmlns:a16="http://schemas.microsoft.com/office/drawing/2014/main" id="{78698583-0D1C-4FCD-99E7-90FB54BD785B}"/>
              </a:ext>
            </a:extLst>
          </p:cNvPr>
          <p:cNvSpPr>
            <a:spLocks noGrp="1"/>
          </p:cNvSpPr>
          <p:nvPr/>
        </p:nvSpPr>
        <p:spPr>
          <a:xfrm>
            <a:off x="552450" y="1076325"/>
            <a:ext cx="838200" cy="571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uild-lead">
            <a:extLst>
              <a:ext uri="{FF2B5EF4-FFF2-40B4-BE49-F238E27FC236}">
                <a16:creationId xmlns:a16="http://schemas.microsoft.com/office/drawing/2014/main" id="{0E13533D-62F3-497F-A888-B13EBEEAF1B2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A local-first stack and explicit limits keep the capstone ambitious, testable, and finishable.</a:t>
            </a:r>
          </a:p>
        </p:txBody>
      </p:sp>
      <p:sp>
        <p:nvSpPr>
          <p:cNvPr id="5" name="scope-card-0">
            <a:extLst>
              <a:ext uri="{FF2B5EF4-FFF2-40B4-BE49-F238E27FC236}">
                <a16:creationId xmlns:a16="http://schemas.microsoft.com/office/drawing/2014/main" id="{B86FF3A8-A9A5-4E3C-B953-2CD2BB2A1690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3333750" cy="323850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9525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cope-heading-0">
            <a:extLst>
              <a:ext uri="{FF2B5EF4-FFF2-40B4-BE49-F238E27FC236}">
                <a16:creationId xmlns:a16="http://schemas.microsoft.com/office/drawing/2014/main" id="{0888E565-9711-41F2-937F-DADE7FB65B90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defRPr sz="127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7" name="scope-body-0">
            <a:extLst>
              <a:ext uri="{FF2B5EF4-FFF2-40B4-BE49-F238E27FC236}">
                <a16:creationId xmlns:a16="http://schemas.microsoft.com/office/drawing/2014/main" id="{20C73B05-99FA-40A0-B66E-8813FC4BD730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28003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TypeScript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+ SQLite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Qwen2.5-Coder 7B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Pytest + Playwright</a:t>
            </a:r>
          </a:p>
        </p:txBody>
      </p:sp>
      <p:sp>
        <p:nvSpPr>
          <p:cNvPr id="8" name="scope-card-1">
            <a:extLst>
              <a:ext uri="{FF2B5EF4-FFF2-40B4-BE49-F238E27FC236}">
                <a16:creationId xmlns:a16="http://schemas.microsoft.com/office/drawing/2014/main" id="{C98F5304-4BB7-49D4-896A-4CC739CBCE1C}"/>
              </a:ext>
            </a:extLst>
          </p:cNvPr>
          <p:cNvSpPr>
            <a:spLocks noGrp="1"/>
          </p:cNvSpPr>
          <p:nvPr/>
        </p:nvSpPr>
        <p:spPr>
          <a:xfrm>
            <a:off x="4305300" y="2238375"/>
            <a:ext cx="3333750" cy="3238500"/>
          </a:xfrm>
          <a:prstGeom prst="roundRect">
            <a:avLst>
              <a:gd name="adj" fmla="val 4706"/>
            </a:avLst>
          </a:prstGeom>
          <a:solidFill>
            <a:srgbClr val="FFF3D6"/>
          </a:solidFill>
          <a:ln w="9525">
            <a:solidFill>
              <a:srgbClr val="E9C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cope-heading-1">
            <a:extLst>
              <a:ext uri="{FF2B5EF4-FFF2-40B4-BE49-F238E27FC236}">
                <a16:creationId xmlns:a16="http://schemas.microsoft.com/office/drawing/2014/main" id="{1497AEBD-923D-4848-93DE-8A25D65C683D}"/>
              </a:ext>
            </a:extLst>
          </p:cNvPr>
          <p:cNvSpPr>
            <a:spLocks noGrp="1"/>
          </p:cNvSpPr>
          <p:nvPr/>
        </p:nvSpPr>
        <p:spPr>
          <a:xfrm>
            <a:off x="4572000" y="2514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defRPr sz="1275" b="1">
                <a:solidFill>
                  <a:srgbClr val="B66A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6A06"/>
                </a:solidFill>
                <a:latin typeface="Arial"/>
                <a:ea typeface="Arial"/>
                <a:cs typeface="Arial"/>
              </a:rPr>
              <a:t>OPERATING LIMITS</a:t>
            </a:r>
          </a:p>
        </p:txBody>
      </p:sp>
      <p:sp>
        <p:nvSpPr>
          <p:cNvPr id="10" name="scope-body-1">
            <a:extLst>
              <a:ext uri="{FF2B5EF4-FFF2-40B4-BE49-F238E27FC236}">
                <a16:creationId xmlns:a16="http://schemas.microsoft.com/office/drawing/2014/main" id="{900083D4-1C22-47F0-B61E-BFA98A679265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28003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36 primary runs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$20 API cap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$10 deployment cap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16 GB RAM + 25 GB storage</a:t>
            </a:r>
          </a:p>
        </p:txBody>
      </p:sp>
      <p:sp>
        <p:nvSpPr>
          <p:cNvPr id="11" name="scope-card-2">
            <a:extLst>
              <a:ext uri="{FF2B5EF4-FFF2-40B4-BE49-F238E27FC236}">
                <a16:creationId xmlns:a16="http://schemas.microsoft.com/office/drawing/2014/main" id="{B799ABD7-D4D7-4134-98AF-2965377C6C22}"/>
              </a:ext>
            </a:extLst>
          </p:cNvPr>
          <p:cNvSpPr>
            <a:spLocks noGrp="1"/>
          </p:cNvSpPr>
          <p:nvPr/>
        </p:nvSpPr>
        <p:spPr>
          <a:xfrm>
            <a:off x="8058150" y="2238375"/>
            <a:ext cx="3333750" cy="3238500"/>
          </a:xfrm>
          <a:prstGeom prst="roundRect">
            <a:avLst>
              <a:gd name="adj" fmla="val 4706"/>
            </a:avLst>
          </a:prstGeom>
          <a:solidFill>
            <a:srgbClr val="E6F6F0"/>
          </a:solidFill>
          <a:ln w="9525">
            <a:solidFill>
              <a:srgbClr val="A8DC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cope-heading-2">
            <a:extLst>
              <a:ext uri="{FF2B5EF4-FFF2-40B4-BE49-F238E27FC236}">
                <a16:creationId xmlns:a16="http://schemas.microsoft.com/office/drawing/2014/main" id="{4BD34625-F744-4613-B128-96A15CA45A1F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2800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defRPr sz="1275" b="1">
                <a:solidFill>
                  <a:srgbClr val="138A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8A63"/>
                </a:solidFill>
                <a:latin typeface="Arial"/>
                <a:ea typeface="Arial"/>
                <a:cs typeface="Arial"/>
              </a:rPr>
              <a:t>SAFEGUARDS</a:t>
            </a:r>
          </a:p>
        </p:txBody>
      </p:sp>
      <p:sp>
        <p:nvSpPr>
          <p:cNvPr id="13" name="scope-body-2">
            <a:extLst>
              <a:ext uri="{FF2B5EF4-FFF2-40B4-BE49-F238E27FC236}">
                <a16:creationId xmlns:a16="http://schemas.microsoft.com/office/drawing/2014/main" id="{A329AD31-2AB5-4485-A4F1-7B0C406915D2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28003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Synthetic fixtures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Disposable repositories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Restricted tools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License and secret checks</a:t>
            </a:r>
          </a:p>
        </p:txBody>
      </p:sp>
      <p:sp>
        <p:nvSpPr>
          <p:cNvPr id="14" name="scope-foot">
            <a:extLst>
              <a:ext uri="{FF2B5EF4-FFF2-40B4-BE49-F238E27FC236}">
                <a16:creationId xmlns:a16="http://schemas.microsoft.com/office/drawing/2014/main" id="{4475649A-C6E2-4187-8EA3-785FDB86A686}"/>
              </a:ext>
            </a:extLst>
          </p:cNvPr>
          <p:cNvSpPr>
            <a:spLocks noGrp="1"/>
          </p:cNvSpPr>
          <p:nvPr/>
        </p:nvSpPr>
        <p:spPr>
          <a:xfrm>
            <a:off x="1143000" y="58674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High-risk unresolved conflicts are quarantined. Results stay bounded to the tested scenarios.</a:t>
            </a:r>
          </a:p>
        </p:txBody>
      </p:sp>
    </p:spTree>
    <p:extLst>
      <p:ext uri="{BB962C8B-B14F-4D97-AF65-F5344CB8AC3E}">
        <p14:creationId xmlns:p14="http://schemas.microsoft.com/office/powerpoint/2010/main" val="149964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lose-eyebrow">
            <a:extLst>
              <a:ext uri="{FF2B5EF4-FFF2-40B4-BE49-F238E27FC236}">
                <a16:creationId xmlns:a16="http://schemas.microsoft.com/office/drawing/2014/main" id="{3DD0DFAD-B314-49F5-90A8-C09A19CB4494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AFC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BFF"/>
                </a:solidFill>
                <a:latin typeface="Arial"/>
                <a:ea typeface="Arial"/>
                <a:cs typeface="Arial"/>
              </a:rPr>
              <a:t>MILESTONE 1 DECISION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F43580C7-1422-4701-8E4A-E8BB67954589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8477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plan.</a:t>
            </a:r>
          </a:p>
          <a:p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one narrow scenario.</a:t>
            </a:r>
          </a:p>
          <a:p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Calibrate from evidence.</a:t>
            </a:r>
          </a:p>
        </p:txBody>
      </p:sp>
      <p:cxnSp>
        <p:nvCxnSpPr>
          <p:cNvPr id="16" name="close-line"/>
          <p:cNvCxnSpPr/>
          <p:nvPr/>
        </p:nvCxnSpPr>
        <p:spPr>
          <a:xfrm>
            <a:off x="628650" y="4095750"/>
            <a:ext cx="9620250" cy="0"/>
          </a:xfrm>
          <a:prstGeom prst="straightConnector1">
            <a:avLst/>
          </a:prstGeom>
          <a:ln w="47625">
            <a:solidFill>
              <a:srgbClr val="21B6D7"/>
            </a:solidFill>
            <a:prstDash val="solid"/>
          </a:ln>
        </p:spPr>
      </p:cxnSp>
      <p:sp>
        <p:nvSpPr>
          <p:cNvPr id="4" name="ask-num-0">
            <a:extLst>
              <a:ext uri="{FF2B5EF4-FFF2-40B4-BE49-F238E27FC236}">
                <a16:creationId xmlns:a16="http://schemas.microsoft.com/office/drawing/2014/main" id="{70967AAE-2D03-4541-A392-B7C688DEF1F9}"/>
              </a:ext>
            </a:extLst>
          </p:cNvPr>
          <p:cNvSpPr>
            <a:spLocks noGrp="1"/>
          </p:cNvSpPr>
          <p:nvPr/>
        </p:nvSpPr>
        <p:spPr>
          <a:xfrm>
            <a:off x="590550" y="44767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21B6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B6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sk-title-0">
            <a:extLst>
              <a:ext uri="{FF2B5EF4-FFF2-40B4-BE49-F238E27FC236}">
                <a16:creationId xmlns:a16="http://schemas.microsoft.com/office/drawing/2014/main" id="{01825410-8E55-466C-9DB1-FDF98649321C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Different enough?</a:t>
            </a:r>
          </a:p>
        </p:txBody>
      </p:sp>
      <p:sp>
        <p:nvSpPr>
          <p:cNvPr id="6" name="ask-body-0">
            <a:extLst>
              <a:ext uri="{FF2B5EF4-FFF2-40B4-BE49-F238E27FC236}">
                <a16:creationId xmlns:a16="http://schemas.microsoft.com/office/drawing/2014/main" id="{B91C35C4-8DDF-4488-B088-97E6614DDD17}"/>
              </a:ext>
            </a:extLst>
          </p:cNvPr>
          <p:cNvSpPr>
            <a:spLocks noGrp="1"/>
          </p:cNvSpPr>
          <p:nvPr/>
        </p:nvSpPr>
        <p:spPr>
          <a:xfrm>
            <a:off x="590550" y="53149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7E3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3F7"/>
                </a:solidFill>
                <a:latin typeface="Arial"/>
                <a:ea typeface="Arial"/>
                <a:cs typeface="Arial"/>
              </a:rPr>
              <a:t>Is this more than a prompt builder?</a:t>
            </a:r>
          </a:p>
        </p:txBody>
      </p:sp>
      <p:sp>
        <p:nvSpPr>
          <p:cNvPr id="7" name="ask-num-1">
            <a:extLst>
              <a:ext uri="{FF2B5EF4-FFF2-40B4-BE49-F238E27FC236}">
                <a16:creationId xmlns:a16="http://schemas.microsoft.com/office/drawing/2014/main" id="{33830CCF-B362-437B-A4BD-02914CDCE24B}"/>
              </a:ext>
            </a:extLst>
          </p:cNvPr>
          <p:cNvSpPr>
            <a:spLocks noGrp="1"/>
          </p:cNvSpPr>
          <p:nvPr/>
        </p:nvSpPr>
        <p:spPr>
          <a:xfrm>
            <a:off x="4286250" y="44767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21B6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B6D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ask-title-1">
            <a:extLst>
              <a:ext uri="{FF2B5EF4-FFF2-40B4-BE49-F238E27FC236}">
                <a16:creationId xmlns:a16="http://schemas.microsoft.com/office/drawing/2014/main" id="{426DFFCD-0C49-48B9-83A9-FD9BE8B23196}"/>
              </a:ext>
            </a:extLst>
          </p:cNvPr>
          <p:cNvSpPr>
            <a:spLocks noGrp="1"/>
          </p:cNvSpPr>
          <p:nvPr/>
        </p:nvSpPr>
        <p:spPr>
          <a:xfrm>
            <a:off x="4286250" y="48672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 MVP boundary?</a:t>
            </a:r>
          </a:p>
        </p:txBody>
      </p:sp>
      <p:sp>
        <p:nvSpPr>
          <p:cNvPr id="9" name="ask-body-1">
            <a:extLst>
              <a:ext uri="{FF2B5EF4-FFF2-40B4-BE49-F238E27FC236}">
                <a16:creationId xmlns:a16="http://schemas.microsoft.com/office/drawing/2014/main" id="{955D7C2F-D8E3-4D9F-B0FC-252C6D7E1485}"/>
              </a:ext>
            </a:extLst>
          </p:cNvPr>
          <p:cNvSpPr>
            <a:spLocks noGrp="1"/>
          </p:cNvSpPr>
          <p:nvPr/>
        </p:nvSpPr>
        <p:spPr>
          <a:xfrm>
            <a:off x="4286250" y="53149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7E3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3F7"/>
                </a:solidFill>
                <a:latin typeface="Arial"/>
                <a:ea typeface="Arial"/>
                <a:cs typeface="Arial"/>
              </a:rPr>
              <a:t>Is deterministic governance sufficient?</a:t>
            </a:r>
          </a:p>
        </p:txBody>
      </p:sp>
      <p:sp>
        <p:nvSpPr>
          <p:cNvPr id="10" name="ask-num-2">
            <a:extLst>
              <a:ext uri="{FF2B5EF4-FFF2-40B4-BE49-F238E27FC236}">
                <a16:creationId xmlns:a16="http://schemas.microsoft.com/office/drawing/2014/main" id="{423385FD-0F17-4492-BCAD-F31D38466D65}"/>
              </a:ext>
            </a:extLst>
          </p:cNvPr>
          <p:cNvSpPr>
            <a:spLocks noGrp="1"/>
          </p:cNvSpPr>
          <p:nvPr/>
        </p:nvSpPr>
        <p:spPr>
          <a:xfrm>
            <a:off x="7981950" y="44767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21B6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B6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ask-title-2">
            <a:extLst>
              <a:ext uri="{FF2B5EF4-FFF2-40B4-BE49-F238E27FC236}">
                <a16:creationId xmlns:a16="http://schemas.microsoft.com/office/drawing/2014/main" id="{BAA8E051-7BFE-4335-A3B0-4B1B96577F2C}"/>
              </a:ext>
            </a:extLst>
          </p:cNvPr>
          <p:cNvSpPr>
            <a:spLocks noGrp="1"/>
          </p:cNvSpPr>
          <p:nvPr/>
        </p:nvSpPr>
        <p:spPr>
          <a:xfrm>
            <a:off x="7981950" y="48672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Credible evaluation?</a:t>
            </a:r>
          </a:p>
        </p:txBody>
      </p:sp>
      <p:sp>
        <p:nvSpPr>
          <p:cNvPr id="12" name="ask-body-2">
            <a:extLst>
              <a:ext uri="{FF2B5EF4-FFF2-40B4-BE49-F238E27FC236}">
                <a16:creationId xmlns:a16="http://schemas.microsoft.com/office/drawing/2014/main" id="{8938F3B4-6CB3-47C8-9D26-8B97C0AB4D0A}"/>
              </a:ext>
            </a:extLst>
          </p:cNvPr>
          <p:cNvSpPr>
            <a:spLocks noGrp="1"/>
          </p:cNvSpPr>
          <p:nvPr/>
        </p:nvSpPr>
        <p:spPr>
          <a:xfrm>
            <a:off x="7981950" y="53149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D7E3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3F7"/>
                </a:solidFill>
                <a:latin typeface="Arial"/>
                <a:ea typeface="Arial"/>
                <a:cs typeface="Arial"/>
              </a:rPr>
              <a:t>Do paired runs support the claim?</a:t>
            </a:r>
          </a:p>
        </p:txBody>
      </p:sp>
      <p:sp>
        <p:nvSpPr>
          <p:cNvPr id="13" name="close-team">
            <a:extLst>
              <a:ext uri="{FF2B5EF4-FFF2-40B4-BE49-F238E27FC236}">
                <a16:creationId xmlns:a16="http://schemas.microsoft.com/office/drawing/2014/main" id="{3B0059AE-1D4F-41C8-B5A3-5B2AD77A4E92}"/>
              </a:ext>
            </a:extLst>
          </p:cNvPr>
          <p:cNvSpPr>
            <a:spLocks noGrp="1"/>
          </p:cNvSpPr>
          <p:nvPr/>
        </p:nvSpPr>
        <p:spPr>
          <a:xfrm>
            <a:off x="590550" y="6324600"/>
            <a:ext cx="819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500" lnSpcReduction="10000"/>
          </a:bodyPr>
          <a:lstStyle/>
          <a:p>
            <a:pPr algn="l">
              <a:defRPr sz="1200" b="0">
                <a:solidFill>
                  <a:srgbClr val="AFCB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BFF"/>
                </a:solidFill>
                <a:latin typeface="Arial"/>
                <a:ea typeface="Arial"/>
                <a:cs typeface="Arial"/>
              </a:rPr>
              <a:t>Agent Accountability Lab  |  Bryan Yang, Will Liu, Guadalupe Cantera</a:t>
            </a:r>
          </a:p>
        </p:txBody>
      </p:sp>
    </p:spTree>
    <p:extLst>
      <p:ext uri="{BB962C8B-B14F-4D97-AF65-F5344CB8AC3E}">
        <p14:creationId xmlns:p14="http://schemas.microsoft.com/office/powerpoint/2010/main" val="20177919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Macintosh PowerPoint</Application>
  <DocSecurity>0</DocSecurity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Bryan Yang</cp:lastModifiedBy>
  <cp:revision>1</cp:revision>
  <dcterms:created xsi:type="dcterms:W3CDTF">2026-09-02T16:04:53Z</dcterms:created>
  <dcterms:modified xsi:type="dcterms:W3CDTF">2026-09-07T22:48:57Z</dcterms:modified>
</cp:coreProperties>
</file>