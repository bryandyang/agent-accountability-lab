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947db1058f41fe" /><Relationship Type="http://schemas.openxmlformats.org/officeDocument/2006/relationships/extended-properties" Target="/docProps/app.xml" Id="R632ba5f9870848c2" /><Relationship Type="http://schemas.openxmlformats.org/officeDocument/2006/relationships/officeDocument" Target="/ppt/presentation.xml" Id="R4d8ca3d73e69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7fafe8b7104287"/>
  </p:sldMasterIdLst>
  <p:notesMasterIdLst>
    <p:notesMasterId xmlns:r="http://schemas.openxmlformats.org/officeDocument/2006/relationships" r:id="R3a765f3e072c40d8"/>
  </p:notesMasterIdLst>
  <p:sldIdLst>
    <p:sldId xmlns:r="http://schemas.openxmlformats.org/officeDocument/2006/relationships" id="256" r:id="R1449fff38c5849f8"/>
    <p:sldId xmlns:r="http://schemas.openxmlformats.org/officeDocument/2006/relationships" id="257" r:id="R3654e4c5fcd44961"/>
    <p:sldId xmlns:r="http://schemas.openxmlformats.org/officeDocument/2006/relationships" id="258" r:id="R0d5a37b6a33f47f2"/>
    <p:sldId xmlns:r="http://schemas.openxmlformats.org/officeDocument/2006/relationships" id="259" r:id="Rd20a73e121de4c64"/>
    <p:sldId xmlns:r="http://schemas.openxmlformats.org/officeDocument/2006/relationships" id="260" r:id="R4f2d3aeeba91447b"/>
    <p:sldId xmlns:r="http://schemas.openxmlformats.org/officeDocument/2006/relationships" id="261" r:id="R05bb0dd2a6414d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92500c09054016" /><Relationship Type="http://schemas.openxmlformats.org/officeDocument/2006/relationships/slideMaster" Target="/ppt/slideMasters/slideMaster1.xml" Id="R4e7fafe8b7104287" /><Relationship Type="http://schemas.openxmlformats.org/officeDocument/2006/relationships/notesMaster" Target="/ppt/notesMasters/notesMaster1.xml" Id="R3a765f3e072c40d8" /><Relationship Type="http://schemas.openxmlformats.org/officeDocument/2006/relationships/presProps" Target="/ppt/presProps.xml" Id="R117df2e561ee4f9a" /><Relationship Type="http://schemas.openxmlformats.org/officeDocument/2006/relationships/tableStyles" Target="/ppt/tableStyles.xml" Id="R444b0c9243094bfb" /><Relationship Type="http://schemas.openxmlformats.org/officeDocument/2006/relationships/slide" Target="/ppt/slides/slide1.xml" Id="R1449fff38c5849f8" /><Relationship Type="http://schemas.openxmlformats.org/officeDocument/2006/relationships/slide" Target="/ppt/slides/slide2.xml" Id="R3654e4c5fcd44961" /><Relationship Type="http://schemas.openxmlformats.org/officeDocument/2006/relationships/slide" Target="/ppt/slides/slide3.xml" Id="R0d5a37b6a33f47f2" /><Relationship Type="http://schemas.openxmlformats.org/officeDocument/2006/relationships/slide" Target="/ppt/slides/slide4.xml" Id="Rd20a73e121de4c64" /><Relationship Type="http://schemas.openxmlformats.org/officeDocument/2006/relationships/slide" Target="/ppt/slides/slide5.xml" Id="R4f2d3aeeba91447b" /><Relationship Type="http://schemas.openxmlformats.org/officeDocument/2006/relationships/slide" Target="/ppt/slides/slide6.xml" Id="R05bb0dd2a6414d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6db80dd6044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ff115d70b84fd2" /><Relationship Type="http://schemas.openxmlformats.org/officeDocument/2006/relationships/notesMaster" Target="/ppt/notesMasters/notesMaster1.xml" Id="R6aa8141d2ebb48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68dc6cbf5488b" /><Relationship Type="http://schemas.openxmlformats.org/officeDocument/2006/relationships/notesMaster" Target="/ppt/notesMasters/notesMaster1.xml" Id="R34a05fa0e8b74c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42744086124b43" /><Relationship Type="http://schemas.openxmlformats.org/officeDocument/2006/relationships/notesMaster" Target="/ppt/notesMasters/notesMaster1.xml" Id="R355012717ac94b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df832913534a5f" /><Relationship Type="http://schemas.openxmlformats.org/officeDocument/2006/relationships/notesMaster" Target="/ppt/notesMasters/notesMaster1.xml" Id="Rfc12b8a64785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0caa2725d640e1" /><Relationship Type="http://schemas.openxmlformats.org/officeDocument/2006/relationships/notesMaster" Target="/ppt/notesMasters/notesMaster1.xml" Id="Raee71d0357d54a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5fc8491f54381" /><Relationship Type="http://schemas.openxmlformats.org/officeDocument/2006/relationships/notesMaster" Target="/ppt/notesMasters/notesMaster1.xml" Id="R58d9ccb90f19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1e145d94043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9f62af10e64b0e" /><Relationship Type="http://schemas.openxmlformats.org/officeDocument/2006/relationships/slideLayout" Target="/ppt/slideLayouts/slideLayout1.xml" Id="R8c2476c45b3544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2476c45b3544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4998434a44afd" /><Relationship Type="http://schemas.openxmlformats.org/officeDocument/2006/relationships/notesSlide" Target="/ppt/notesSlides/notesSlide1.xml" Id="R5e8f3b74196d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ad0f1567c4a70" /><Relationship Type="http://schemas.openxmlformats.org/officeDocument/2006/relationships/notesSlide" Target="/ppt/notesSlides/notesSlide2.xml" Id="R925c6dd3c4f64a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c248e56044fda" /><Relationship Type="http://schemas.openxmlformats.org/officeDocument/2006/relationships/notesSlide" Target="/ppt/notesSlides/notesSlide3.xml" Id="Rc30cb2868952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52bd9c794e97" /><Relationship Type="http://schemas.openxmlformats.org/officeDocument/2006/relationships/notesSlide" Target="/ppt/notesSlides/notesSlide4.xml" Id="R4e419694fa0446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641cfb9f4a9c" /><Relationship Type="http://schemas.openxmlformats.org/officeDocument/2006/relationships/notesSlide" Target="/ppt/notesSlides/notesSlide5.xml" Id="R1b4b478eca024a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fb2783a374b48" /><Relationship Type="http://schemas.openxmlformats.org/officeDocument/2006/relationships/notesSlide" Target="/ppt/notesSlides/notesSlide6.xml" Id="R26b30bdb87c94e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10D8C3E-0874-463E-8B34-B7E71B6C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CIS-5980  |  AI ENGINEERING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5CB07C8-0857-4145-AA89-278907E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Agent Accountability Lab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5B06DAC-29A5-4066-84DD-6CC4CDC2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Visual context governance for reliable coding agents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04221A6F-2C90-4952-BEF5-E664937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See what context was considered, what was rejected, what reached the model, and what changed.</a:t>
            </a:r>
          </a:p>
        </p:txBody>
      </p:sp>
      <p:cxnSp>
        <p:nvCxnSpPr>
          <p:cNvPr id="17" name="cover-evidence-line"/>
          <p:cNvCxnSpPr/>
          <p:nvPr/>
        </p:nvCxnSpPr>
        <p:spPr>
          <a:xfrm xmlns:a="http://schemas.openxmlformats.org/drawingml/2006/main">
            <a:off x="628650" y="50101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6" name="cover-node-0">
            <a:extLst xmlns:a="http://schemas.openxmlformats.org/drawingml/2006/main">
              <a:ext uri="{FF2B5EF4-FFF2-40B4-BE49-F238E27FC236}">
                <a16:creationId xmlns:a16="http://schemas.microsoft.com/office/drawing/2014/main" id="{C5F72267-AE63-4E76-95DD-D247755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cover-label-0">
            <a:extLst xmlns:a="http://schemas.openxmlformats.org/drawingml/2006/main">
              <a:ext uri="{FF2B5EF4-FFF2-40B4-BE49-F238E27FC236}">
                <a16:creationId xmlns:a16="http://schemas.microsoft.com/office/drawing/2014/main" id="{3CF1EC65-9DF9-48C4-BC35-7A1AEF2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8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7A490EAC-9E88-4FE1-8ED6-F08B394B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14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B6D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cover-label-1">
            <a:extLst xmlns:a="http://schemas.openxmlformats.org/drawingml/2006/main">
              <a:ext uri="{FF2B5EF4-FFF2-40B4-BE49-F238E27FC236}">
                <a16:creationId xmlns:a16="http://schemas.microsoft.com/office/drawing/2014/main" id="{A2B744BC-D195-4EF4-B591-6CA69B9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57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LEDGER</a:t>
            </a:r>
          </a:p>
        </p:txBody>
      </p:sp>
      <p:sp>
        <p:nvSpPr>
          <p:cNvPr id="10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F3D05308-D376-4D42-8197-9B941EF7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914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cover-label-2">
            <a:extLst xmlns:a="http://schemas.openxmlformats.org/drawingml/2006/main">
              <a:ext uri="{FF2B5EF4-FFF2-40B4-BE49-F238E27FC236}">
                <a16:creationId xmlns:a16="http://schemas.microsoft.com/office/drawing/2014/main" id="{775BD296-1D49-4D7F-9685-9BD1C43E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57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CODING AGENT</a:t>
            </a:r>
          </a:p>
        </p:txBody>
      </p:sp>
      <p:sp>
        <p:nvSpPr>
          <p:cNvPr id="12" name="cover-team">
            <a:extLst xmlns:a="http://schemas.openxmlformats.org/drawingml/2006/main">
              <a:ext uri="{FF2B5EF4-FFF2-40B4-BE49-F238E27FC236}">
                <a16:creationId xmlns:a16="http://schemas.microsoft.com/office/drawing/2014/main" id="{BA8CDEF7-3C95-4689-8101-FDDED409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Bryan Yang  |  Will Liu  |  Guadalupe Cantera</a:t>
            </a:r>
          </a:p>
        </p:txBody>
      </p:sp>
    </p:spTree>
    <p:extLst>
      <p:ext uri="{BB962C8B-B14F-4D97-AF65-F5344CB8AC3E}">
        <p14:creationId xmlns:p14="http://schemas.microsoft.com/office/powerpoint/2010/main" val="1284937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CF3B1B1-EFD1-42E5-9447-D5BF137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Relevant context can still be wrong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CD82E69D-8990-41CB-A776-5078FAE8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lide-2-accent">
            <a:extLst xmlns:a="http://schemas.openxmlformats.org/drawingml/2006/main">
              <a:ext uri="{FF2B5EF4-FFF2-40B4-BE49-F238E27FC236}">
                <a16:creationId xmlns:a16="http://schemas.microsoft.com/office/drawing/2014/main" id="{10C60AE1-28A8-45DF-9698-E7F0DA57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8382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406BDF06-323C-4456-8EA9-C420293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2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Coding agents combine useful information from many sources, but relevance does not guarantee validity.</a:t>
            </a:r>
          </a:p>
        </p:txBody>
      </p:sp>
      <p:sp>
        <p:nvSpPr>
          <p:cNvPr id="5" name="source-card">
            <a:extLst xmlns:a="http://schemas.openxmlformats.org/drawingml/2006/main">
              <a:ext uri="{FF2B5EF4-FFF2-40B4-BE49-F238E27FC236}">
                <a16:creationId xmlns:a16="http://schemas.microsoft.com/office/drawing/2014/main" id="{130E66C0-5A90-4702-82AF-45070F59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51244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1E4BA5F2-3A0A-4897-8979-0232BD6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enters the candidate pool</a:t>
            </a:r>
          </a:p>
        </p:txBody>
      </p:sp>
      <p:sp>
        <p:nvSpPr>
          <p:cNvPr id="7" name="source-0-dot">
            <a:extLst xmlns:a="http://schemas.openxmlformats.org/drawingml/2006/main">
              <a:ext uri="{FF2B5EF4-FFF2-40B4-BE49-F238E27FC236}">
                <a16:creationId xmlns:a16="http://schemas.microsoft.com/office/drawing/2014/main" id="{B35FBC7F-D029-47D8-9F5C-31E0BC6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source-0">
            <a:extLst xmlns:a="http://schemas.openxmlformats.org/drawingml/2006/main">
              <a:ext uri="{FF2B5EF4-FFF2-40B4-BE49-F238E27FC236}">
                <a16:creationId xmlns:a16="http://schemas.microsoft.com/office/drawing/2014/main" id="{9997A720-836D-4F76-9133-2C3A456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289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User tasks and target files</a:t>
            </a:r>
          </a:p>
        </p:txBody>
      </p:sp>
      <p:sp>
        <p:nvSpPr>
          <p:cNvPr id="9" name="source-1-dot">
            <a:extLst xmlns:a="http://schemas.openxmlformats.org/drawingml/2006/main">
              <a:ext uri="{FF2B5EF4-FFF2-40B4-BE49-F238E27FC236}">
                <a16:creationId xmlns:a16="http://schemas.microsoft.com/office/drawing/2014/main" id="{1CDF8C77-7A9D-4940-9425-126A269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source-1">
            <a:extLst xmlns:a="http://schemas.openxmlformats.org/drawingml/2006/main">
              <a:ext uri="{FF2B5EF4-FFF2-40B4-BE49-F238E27FC236}">
                <a16:creationId xmlns:a16="http://schemas.microsoft.com/office/drawing/2014/main" id="{D67BAC7C-5D82-40F5-BCC4-2F3C8AA2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Repository and directory rules</a:t>
            </a:r>
          </a:p>
        </p:txBody>
      </p:sp>
      <p:sp>
        <p:nvSpPr>
          <p:cNvPr id="11" name="source-2-dot">
            <a:extLst xmlns:a="http://schemas.openxmlformats.org/drawingml/2006/main">
              <a:ext uri="{FF2B5EF4-FFF2-40B4-BE49-F238E27FC236}">
                <a16:creationId xmlns:a16="http://schemas.microsoft.com/office/drawing/2014/main" id="{198FC06D-6869-47DB-8092-CBA016C0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3874E06B-B50F-4080-89B5-0C55D2F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6242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Documentation and tool output</a:t>
            </a:r>
          </a:p>
        </p:txBody>
      </p:sp>
      <p:sp>
        <p:nvSpPr>
          <p:cNvPr id="13" name="source-3-dot">
            <a:extLst xmlns:a="http://schemas.openxmlformats.org/drawingml/2006/main">
              <a:ext uri="{FF2B5EF4-FFF2-40B4-BE49-F238E27FC236}">
                <a16:creationId xmlns:a16="http://schemas.microsoft.com/office/drawing/2014/main" id="{454B92CD-86BE-4CBB-9682-CDB49836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source-3">
            <a:extLst xmlns:a="http://schemas.openxmlformats.org/drawingml/2006/main">
              <a:ext uri="{FF2B5EF4-FFF2-40B4-BE49-F238E27FC236}">
                <a16:creationId xmlns:a16="http://schemas.microsoft.com/office/drawing/2014/main" id="{623A1EB9-C0EA-48EA-84A6-AD046D73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Memories from previous runs</a:t>
            </a:r>
          </a:p>
        </p:txBody>
      </p:sp>
      <p:sp>
        <p:nvSpPr>
          <p:cNvPr id="15" name="risk-card">
            <a:extLst xmlns:a="http://schemas.openxmlformats.org/drawingml/2006/main">
              <a:ext uri="{FF2B5EF4-FFF2-40B4-BE49-F238E27FC236}">
                <a16:creationId xmlns:a16="http://schemas.microsoft.com/office/drawing/2014/main" id="{5018354A-2B69-4CA0-9D6A-BA661CED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51244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CE9E9"/>
          </a:solidFill>
          <a:ln xmlns:a="http://schemas.openxmlformats.org/drawingml/2006/main" w="9525">
            <a:solidFill>
              <a:srgbClr val="EAB8B8"/>
            </a:solidFill>
            <a:prstDash val="solid"/>
          </a:ln>
        </p:spPr>
      </p:sp>
      <p:sp>
        <p:nvSpPr>
          <p:cNvPr id="16" name="risk-title">
            <a:extLst xmlns:a="http://schemas.openxmlformats.org/drawingml/2006/main">
              <a:ext uri="{FF2B5EF4-FFF2-40B4-BE49-F238E27FC236}">
                <a16:creationId xmlns:a16="http://schemas.microsoft.com/office/drawing/2014/main" id="{48C2E088-6676-431E-9B80-525D3E05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Why visibility matters</a:t>
            </a:r>
          </a:p>
        </p:txBody>
      </p:sp>
      <p:sp>
        <p:nvSpPr>
          <p:cNvPr id="17" name="risk-0-dot">
            <a:extLst xmlns:a="http://schemas.openxmlformats.org/drawingml/2006/main">
              <a:ext uri="{FF2B5EF4-FFF2-40B4-BE49-F238E27FC236}">
                <a16:creationId xmlns:a16="http://schemas.microsoft.com/office/drawing/2014/main" id="{D7548994-145F-40AB-830E-6EE33DC4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risk-0">
            <a:extLst xmlns:a="http://schemas.openxmlformats.org/drawingml/2006/main">
              <a:ext uri="{FF2B5EF4-FFF2-40B4-BE49-F238E27FC236}">
                <a16:creationId xmlns:a16="http://schemas.microsoft.com/office/drawing/2014/main" id="{94EB5648-C486-4C4E-994C-1A69285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Stale or superseded</a:t>
            </a:r>
          </a:p>
        </p:txBody>
      </p:sp>
      <p:sp>
        <p:nvSpPr>
          <p:cNvPr id="19" name="risk-1-dot">
            <a:extLst xmlns:a="http://schemas.openxmlformats.org/drawingml/2006/main">
              <a:ext uri="{FF2B5EF4-FFF2-40B4-BE49-F238E27FC236}">
                <a16:creationId xmlns:a16="http://schemas.microsoft.com/office/drawing/2014/main" id="{A3237589-15BB-4F1B-99B7-B6E21CEF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risk-1">
            <a:extLst xmlns:a="http://schemas.openxmlformats.org/drawingml/2006/main">
              <a:ext uri="{FF2B5EF4-FFF2-40B4-BE49-F238E27FC236}">
                <a16:creationId xmlns:a16="http://schemas.microsoft.com/office/drawing/2014/main" id="{784C6F58-A634-41E8-9A5B-3C03FF3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Outside the target path</a:t>
            </a:r>
          </a:p>
        </p:txBody>
      </p:sp>
      <p:sp>
        <p:nvSpPr>
          <p:cNvPr id="21" name="risk-2-dot">
            <a:extLst xmlns:a="http://schemas.openxmlformats.org/drawingml/2006/main">
              <a:ext uri="{FF2B5EF4-FFF2-40B4-BE49-F238E27FC236}">
                <a16:creationId xmlns:a16="http://schemas.microsoft.com/office/drawing/2014/main" id="{71AC39D1-E1C0-4316-B384-EA72A572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risk-2">
            <a:extLst xmlns:a="http://schemas.openxmlformats.org/drawingml/2006/main">
              <a:ext uri="{FF2B5EF4-FFF2-40B4-BE49-F238E27FC236}">
                <a16:creationId xmlns:a16="http://schemas.microsoft.com/office/drawing/2014/main" id="{225DE7EF-A0CD-41E5-880C-B3BA6B2C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6242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Duplicated or untrusted</a:t>
            </a:r>
          </a:p>
        </p:txBody>
      </p:sp>
      <p:sp>
        <p:nvSpPr>
          <p:cNvPr id="23" name="risk-3-dot">
            <a:extLst xmlns:a="http://schemas.openxmlformats.org/drawingml/2006/main">
              <a:ext uri="{FF2B5EF4-FFF2-40B4-BE49-F238E27FC236}">
                <a16:creationId xmlns:a16="http://schemas.microsoft.com/office/drawing/2014/main" id="{00448E65-46E3-404C-98A4-609430CF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risk-3">
            <a:extLst xmlns:a="http://schemas.openxmlformats.org/drawingml/2006/main">
              <a:ext uri="{FF2B5EF4-FFF2-40B4-BE49-F238E27FC236}">
                <a16:creationId xmlns:a16="http://schemas.microsoft.com/office/drawing/2014/main" id="{A0CDBC23-4699-4C64-9D76-13C737AB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Mutually inconsistent</a:t>
            </a:r>
          </a:p>
        </p:txBody>
      </p:sp>
      <p:sp>
        <p:nvSpPr>
          <p:cNvPr id="25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C76C6E83-9A35-4407-8BD7-5036196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Without an evidence trail, failures are difficult to explain, reproduce, or evaluate.</a:t>
            </a:r>
          </a:p>
        </p:txBody>
      </p:sp>
    </p:spTree>
    <p:extLst>
      <p:ext uri="{BB962C8B-B14F-4D97-AF65-F5344CB8AC3E}">
        <p14:creationId xmlns:p14="http://schemas.microsoft.com/office/powerpoint/2010/main" val="1326704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CC81EEE-6B78-4939-AB0B-78CDC20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5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Governance creates an inspectable evidence chain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1472476A-0631-457D-9240-B96AB781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lide-3-accent">
            <a:extLst xmlns:a="http://schemas.openxmlformats.org/drawingml/2006/main">
              <a:ext uri="{FF2B5EF4-FFF2-40B4-BE49-F238E27FC236}">
                <a16:creationId xmlns:a16="http://schemas.microsoft.com/office/drawing/2014/main" id="{0F4614D8-B96F-4660-8D69-A7FB6AC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8382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cxnSp>
        <p:nvCxnSpPr>
          <p:cNvPr id="30" name="flow-line"/>
          <p:cNvCxnSpPr/>
          <p:nvPr/>
        </p:nvCxnSpPr>
        <p:spPr>
          <a:xfrm xmlns:a="http://schemas.openxmlformats.org/drawingml/2006/main">
            <a:off x="1066800" y="3219450"/>
            <a:ext cx="96583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563EB"/>
            </a:solidFill>
            <a:prstDash val="solid"/>
          </a:ln>
        </p:spPr>
      </p:cxnSp>
      <p:sp>
        <p:nvSpPr>
          <p:cNvPr id="5" name="flow-node-0">
            <a:extLst xmlns:a="http://schemas.openxmlformats.org/drawingml/2006/main">
              <a:ext uri="{FF2B5EF4-FFF2-40B4-BE49-F238E27FC236}">
                <a16:creationId xmlns:a16="http://schemas.microsoft.com/office/drawing/2014/main" id="{BFD3F248-85DB-49A7-94CE-19871C2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flow-num-0">
            <a:extLst xmlns:a="http://schemas.openxmlformats.org/drawingml/2006/main">
              <a:ext uri="{FF2B5EF4-FFF2-40B4-BE49-F238E27FC236}">
                <a16:creationId xmlns:a16="http://schemas.microsoft.com/office/drawing/2014/main" id="{596FB994-FF05-4775-A985-94EF87B6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3D6BEA2-0B24-42F4-A326-EAB06AA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Candidate context</a:t>
            </a:r>
          </a:p>
        </p:txBody>
      </p:sp>
      <p:sp>
        <p:nvSpPr>
          <p:cNvPr id="8" name="flow-body-0">
            <a:extLst xmlns:a="http://schemas.openxmlformats.org/drawingml/2006/main">
              <a:ext uri="{FF2B5EF4-FFF2-40B4-BE49-F238E27FC236}">
                <a16:creationId xmlns:a16="http://schemas.microsoft.com/office/drawing/2014/main" id="{781248D5-BE6A-45F5-BEF2-04E9CA05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Task, rules, docs, memories</a:t>
            </a:r>
          </a:p>
        </p:txBody>
      </p:sp>
      <p:sp>
        <p:nvSpPr>
          <p:cNvPr id="9" name="flow-node-1">
            <a:extLst xmlns:a="http://schemas.openxmlformats.org/drawingml/2006/main">
              <a:ext uri="{FF2B5EF4-FFF2-40B4-BE49-F238E27FC236}">
                <a16:creationId xmlns:a16="http://schemas.microsoft.com/office/drawing/2014/main" id="{33ECA51B-C2A4-4A58-8E10-B0CC1E61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71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flow-num-1">
            <a:extLst xmlns:a="http://schemas.openxmlformats.org/drawingml/2006/main">
              <a:ext uri="{FF2B5EF4-FFF2-40B4-BE49-F238E27FC236}">
                <a16:creationId xmlns:a16="http://schemas.microsoft.com/office/drawing/2014/main" id="{9742B7C7-D0CB-428D-9CE5-2BB3B759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575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930873E-F4EF-4E03-8289-8F6A204C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2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92B692E-5264-4B41-B7E9-E36525FE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62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Admit, reject, quarantine, deduplicate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EB18341-8C7B-4A39-9930-60A6BC2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71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B6D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flow-num-2">
            <a:extLst xmlns:a="http://schemas.openxmlformats.org/drawingml/2006/main">
              <a:ext uri="{FF2B5EF4-FFF2-40B4-BE49-F238E27FC236}">
                <a16:creationId xmlns:a16="http://schemas.microsoft.com/office/drawing/2014/main" id="{A73669E7-5174-4A4F-95E2-FE6915F8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575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12ADAE08-54CB-4D42-8DE3-0C157C1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76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Decision ledger</a:t>
            </a:r>
          </a:p>
        </p:txBody>
      </p:sp>
      <p:sp>
        <p:nvSpPr>
          <p:cNvPr id="16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5CB4921-5F19-454F-B1EA-9B39E82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62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Reasons, provenance, policy version</a:t>
            </a:r>
          </a:p>
        </p:txBody>
      </p:sp>
      <p:sp>
        <p:nvSpPr>
          <p:cNvPr id="1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56CCE0B6-9C08-414E-BB1D-4C8E5CC5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flow-num-3">
            <a:extLst xmlns:a="http://schemas.openxmlformats.org/drawingml/2006/main">
              <a:ext uri="{FF2B5EF4-FFF2-40B4-BE49-F238E27FC236}">
                <a16:creationId xmlns:a16="http://schemas.microsoft.com/office/drawing/2014/main" id="{3E216EB4-EAAC-4492-9D8B-D4936E90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575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92F2D161-EB83-4723-BEF7-CDB5C6D9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76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Coding model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9678FBB1-339A-408D-8E72-87927614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62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Exact governed or ungoverned input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0CE6113A-CB00-4CCB-BE0F-88928880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71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flow-num-4">
            <a:extLst xmlns:a="http://schemas.openxmlformats.org/drawingml/2006/main">
              <a:ext uri="{FF2B5EF4-FFF2-40B4-BE49-F238E27FC236}">
                <a16:creationId xmlns:a16="http://schemas.microsoft.com/office/drawing/2014/main" id="{D552CD03-05AA-434E-BF50-9573A5E4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575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27D0D586-2BAC-4719-8957-9F654870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Evaluated outcome</a:t>
            </a:r>
          </a:p>
        </p:txBody>
      </p:sp>
      <p:sp>
        <p:nvSpPr>
          <p:cNvPr id="24" name="flow-body-4">
            <a:extLst xmlns:a="http://schemas.openxmlformats.org/drawingml/2006/main">
              <a:ext uri="{FF2B5EF4-FFF2-40B4-BE49-F238E27FC236}">
                <a16:creationId xmlns:a16="http://schemas.microsoft.com/office/drawing/2014/main" id="{C62BCA14-36FD-4073-BC01-977F56B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62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Edits, tests, violations, tokens, latency</a:t>
            </a:r>
          </a:p>
        </p:txBody>
      </p:sp>
      <p:sp>
        <p:nvSpPr>
          <p:cNvPr id="25" name="trace-callout">
            <a:extLst xmlns:a="http://schemas.openxmlformats.org/drawingml/2006/main">
              <a:ext uri="{FF2B5EF4-FFF2-40B4-BE49-F238E27FC236}">
                <a16:creationId xmlns:a16="http://schemas.microsoft.com/office/drawing/2014/main" id="{16479726-6E6C-42A0-9AF2-739C7F5C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8001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2FF"/>
            </a:solidFill>
            <a:prstDash val="solid"/>
          </a:ln>
        </p:spPr>
      </p:sp>
      <p:sp>
        <p:nvSpPr>
          <p:cNvPr id="26" name="trace-callout-text">
            <a:extLst xmlns:a="http://schemas.openxmlformats.org/drawingml/2006/main">
              <a:ext uri="{FF2B5EF4-FFF2-40B4-BE49-F238E27FC236}">
                <a16:creationId xmlns:a16="http://schemas.microsoft.com/office/drawing/2014/main" id="{3F2423AD-1B72-4082-9762-21CD461C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911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The trace records what reached the model and what happened next. It does not claim to reveal private model reasoning.</a:t>
            </a:r>
          </a:p>
        </p:txBody>
      </p:sp>
    </p:spTree>
    <p:extLst>
      <p:ext uri="{BB962C8B-B14F-4D97-AF65-F5344CB8AC3E}">
        <p14:creationId xmlns:p14="http://schemas.microsoft.com/office/powerpoint/2010/main" val="1721144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AFF33C1-409C-4A7D-9312-75A7269E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same task is tested with and without governance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28EF9344-DA90-4CD0-8F7C-0E94A9A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lide-4-accent">
            <a:extLst xmlns:a="http://schemas.openxmlformats.org/drawingml/2006/main">
              <a:ext uri="{FF2B5EF4-FFF2-40B4-BE49-F238E27FC236}">
                <a16:creationId xmlns:a16="http://schemas.microsoft.com/office/drawing/2014/main" id="{019519DC-0622-4150-8610-2A5C26B2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8382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shared-input-label">
            <a:extLst xmlns:a="http://schemas.openxmlformats.org/drawingml/2006/main">
              <a:ext uri="{FF2B5EF4-FFF2-40B4-BE49-F238E27FC236}">
                <a16:creationId xmlns:a16="http://schemas.microsoft.com/office/drawing/2014/main" id="{64DBF2F1-C7AC-4C68-A7A4-D43D8B24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SHARED CONTROLLED INPUT</a:t>
            </a:r>
          </a:p>
        </p:txBody>
      </p:sp>
      <p:sp>
        <p:nvSpPr>
          <p:cNvPr id="5" name="shared-input">
            <a:extLst xmlns:a="http://schemas.openxmlformats.org/drawingml/2006/main">
              <a:ext uri="{FF2B5EF4-FFF2-40B4-BE49-F238E27FC236}">
                <a16:creationId xmlns:a16="http://schemas.microsoft.com/office/drawing/2014/main" id="{CA04F858-8A30-4442-A6B6-7282EB0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8667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2FF"/>
            </a:solidFill>
            <a:prstDash val="solid"/>
          </a:ln>
        </p:spPr>
      </p:sp>
      <p:sp>
        <p:nvSpPr>
          <p:cNvPr id="6" name="shared-input-text">
            <a:extLst xmlns:a="http://schemas.openxmlformats.org/drawingml/2006/main">
              <a:ext uri="{FF2B5EF4-FFF2-40B4-BE49-F238E27FC236}">
                <a16:creationId xmlns:a16="http://schemas.microsoft.com/office/drawing/2014/main" id="{9C0BD432-AB05-45AA-9484-383DA6FF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954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Same repository revision, request, candidates, tools, model settings, and trial seed</a:t>
            </a:r>
          </a:p>
        </p:txBody>
      </p:sp>
      <p:cxnSp>
        <p:nvCxnSpPr>
          <p:cNvPr id="23" name="split-left"/>
          <p:cNvCxnSpPr/>
          <p:nvPr/>
        </p:nvCxnSpPr>
        <p:spPr>
          <a:xfrm xmlns:a="http://schemas.openxmlformats.org/drawingml/2006/main">
            <a:off x="3238500" y="2324100"/>
            <a:ext cx="28575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cxnSp>
        <p:nvCxnSpPr>
          <p:cNvPr id="24" name="split-right"/>
          <p:cNvCxnSpPr/>
          <p:nvPr/>
        </p:nvCxnSpPr>
        <p:spPr>
          <a:xfrm xmlns:a="http://schemas.openxmlformats.org/drawingml/2006/main">
            <a:off x="6096000" y="2324100"/>
            <a:ext cx="28575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BD5E1"/>
            </a:solidFill>
            <a:prstDash val="solid"/>
          </a:ln>
        </p:spPr>
      </p:cxnSp>
      <p:sp>
        <p:nvSpPr>
          <p:cNvPr id="9" name="ungoverned">
            <a:extLst xmlns:a="http://schemas.openxmlformats.org/drawingml/2006/main">
              <a:ext uri="{FF2B5EF4-FFF2-40B4-BE49-F238E27FC236}">
                <a16:creationId xmlns:a16="http://schemas.microsoft.com/office/drawing/2014/main" id="{6289E385-9C0A-4BA7-AB9F-4AC1DBB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19112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CE9E9"/>
          </a:solidFill>
          <a:ln xmlns:a="http://schemas.openxmlformats.org/drawingml/2006/main" w="9525">
            <a:solidFill>
              <a:srgbClr val="EAB8B8"/>
            </a:solidFill>
            <a:prstDash val="solid"/>
          </a:ln>
        </p:spPr>
      </p:sp>
      <p:sp>
        <p:nvSpPr>
          <p:cNvPr id="10" name="ungoverned-title">
            <a:extLst xmlns:a="http://schemas.openxmlformats.org/drawingml/2006/main">
              <a:ext uri="{FF2B5EF4-FFF2-40B4-BE49-F238E27FC236}">
                <a16:creationId xmlns:a16="http://schemas.microsoft.com/office/drawing/2014/main" id="{C423E26B-C347-4D92-ABB3-B67F42D9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Without governance</a:t>
            </a:r>
          </a:p>
        </p:txBody>
      </p:sp>
      <p:sp>
        <p:nvSpPr>
          <p:cNvPr id="11" name="ungoverned-body">
            <a:extLst xmlns:a="http://schemas.openxmlformats.org/drawingml/2006/main">
              <a:ext uri="{FF2B5EF4-FFF2-40B4-BE49-F238E27FC236}">
                <a16:creationId xmlns:a16="http://schemas.microsoft.com/office/drawing/2014/main" id="{C21D6EC0-E5E1-432C-A3E5-3090DE58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524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 candidate enters model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Invalid or conflicting material can compete with current repository instructions.</a:t>
            </a:r>
          </a:p>
        </p:txBody>
      </p:sp>
      <p:sp>
        <p:nvSpPr>
          <p:cNvPr id="12" name="governed">
            <a:extLst xmlns:a="http://schemas.openxmlformats.org/drawingml/2006/main">
              <a:ext uri="{FF2B5EF4-FFF2-40B4-BE49-F238E27FC236}">
                <a16:creationId xmlns:a16="http://schemas.microsoft.com/office/drawing/2014/main" id="{7FC94469-522F-4734-8C6E-70B12EED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76550"/>
            <a:ext cx="5191125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A8DCC9"/>
            </a:solidFill>
            <a:prstDash val="solid"/>
          </a:ln>
        </p:spPr>
      </p:sp>
      <p:sp>
        <p:nvSpPr>
          <p:cNvPr id="13" name="governed-title">
            <a:extLst xmlns:a="http://schemas.openxmlformats.org/drawingml/2006/main">
              <a:ext uri="{FF2B5EF4-FFF2-40B4-BE49-F238E27FC236}">
                <a16:creationId xmlns:a16="http://schemas.microsoft.com/office/drawing/2014/main" id="{5CA686CC-0165-4387-A605-D7C550A4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8A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8A63"/>
                </a:solidFill>
                <a:latin typeface="Arial"/>
                <a:ea typeface="Arial"/>
                <a:cs typeface="Arial"/>
              </a:rPr>
              <a:t>Governance enabled</a:t>
            </a:r>
          </a:p>
        </p:txBody>
      </p:sp>
      <p:sp>
        <p:nvSpPr>
          <p:cNvPr id="14" name="governed-body">
            <a:extLst xmlns:a="http://schemas.openxmlformats.org/drawingml/2006/main">
              <a:ext uri="{FF2B5EF4-FFF2-40B4-BE49-F238E27FC236}">
                <a16:creationId xmlns:a16="http://schemas.microsoft.com/office/drawing/2014/main" id="{10F7186B-7453-41C9-8AB3-66C450E3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524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Policies filter, scope, deduplicate, order, and reason-code candidates before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model receives the approved context bundle.</a:t>
            </a:r>
          </a:p>
        </p:txBody>
      </p:sp>
      <p:sp>
        <p:nvSpPr>
          <p:cNvPr id="15" name="evaluation-output">
            <a:extLst xmlns:a="http://schemas.openxmlformats.org/drawingml/2006/main">
              <a:ext uri="{FF2B5EF4-FFF2-40B4-BE49-F238E27FC236}">
                <a16:creationId xmlns:a16="http://schemas.microsoft.com/office/drawing/2014/main" id="{406E1754-764E-4059-BAB0-B844B0A2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530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COMPARE: invalid-context admission  |  false rejection  |  task success  |  rule violations  |  tokens  |  latency</a:t>
            </a:r>
          </a:p>
        </p:txBody>
      </p:sp>
      <p:sp>
        <p:nvSpPr>
          <p:cNvPr id="16" name="principle">
            <a:extLst xmlns:a="http://schemas.openxmlformats.org/drawingml/2006/main">
              <a:ext uri="{FF2B5EF4-FFF2-40B4-BE49-F238E27FC236}">
                <a16:creationId xmlns:a16="http://schemas.microsoft.com/office/drawing/2014/main" id="{764A6A00-9496-455B-BAD7-5AA8B4E3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Token reduction alone does not count as success.</a:t>
            </a:r>
          </a:p>
        </p:txBody>
      </p:sp>
    </p:spTree>
    <p:extLst>
      <p:ext uri="{BB962C8B-B14F-4D97-AF65-F5344CB8AC3E}">
        <p14:creationId xmlns:p14="http://schemas.microsoft.com/office/powerpoint/2010/main" val="1155248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96A3438-BE85-4C15-A026-05DC4B1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first build stays narrow and bounded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91E6F9BA-B625-4349-98CF-604311DD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9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lide-5-accent">
            <a:extLst xmlns:a="http://schemas.openxmlformats.org/drawingml/2006/main">
              <a:ext uri="{FF2B5EF4-FFF2-40B4-BE49-F238E27FC236}">
                <a16:creationId xmlns:a16="http://schemas.microsoft.com/office/drawing/2014/main" id="{78698583-0D1C-4FCD-99E7-90FB54BD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838200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" name="build-lead">
            <a:extLst xmlns:a="http://schemas.openxmlformats.org/drawingml/2006/main">
              <a:ext uri="{FF2B5EF4-FFF2-40B4-BE49-F238E27FC236}">
                <a16:creationId xmlns:a16="http://schemas.microsoft.com/office/drawing/2014/main" id="{0E13533D-62F3-497F-A888-B13EBEE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A local-first stack and explicit limits keep the capstone ambitious, testable, and finishable.</a:t>
            </a:r>
          </a:p>
        </p:txBody>
      </p:sp>
      <p:sp>
        <p:nvSpPr>
          <p:cNvPr id="5" name="scope-card-0">
            <a:extLst xmlns:a="http://schemas.openxmlformats.org/drawingml/2006/main">
              <a:ext uri="{FF2B5EF4-FFF2-40B4-BE49-F238E27FC236}">
                <a16:creationId xmlns:a16="http://schemas.microsoft.com/office/drawing/2014/main" id="{B86FF3A8-A9A5-4E3C-B953-2CD2BB2A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3337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9D2FF"/>
            </a:solidFill>
            <a:prstDash val="solid"/>
          </a:ln>
        </p:spPr>
      </p:sp>
      <p:sp>
        <p:nvSpPr>
          <p:cNvPr id="6" name="scope-heading-0">
            <a:extLst xmlns:a="http://schemas.openxmlformats.org/drawingml/2006/main">
              <a:ext uri="{FF2B5EF4-FFF2-40B4-BE49-F238E27FC236}">
                <a16:creationId xmlns:a16="http://schemas.microsoft.com/office/drawing/2014/main" id="{0888E565-9711-41F2-937F-DADE7FB6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78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20C73B05-99FA-40A0-B66E-8813FC4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00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React + TypeScript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FastAPI + SQLite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Qwen2.5-Coder 7B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Pytest + Playwright</a:t>
            </a:r>
          </a:p>
        </p:txBody>
      </p:sp>
      <p:sp>
        <p:nvSpPr>
          <p:cNvPr id="8" name="scope-card-1">
            <a:extLst xmlns:a="http://schemas.openxmlformats.org/drawingml/2006/main">
              <a:ext uri="{FF2B5EF4-FFF2-40B4-BE49-F238E27FC236}">
                <a16:creationId xmlns:a16="http://schemas.microsoft.com/office/drawing/2014/main" id="{C98F5304-4BB7-49D4-896A-4CC739CB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38375"/>
            <a:ext cx="33337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CC8C"/>
            </a:solidFill>
            <a:prstDash val="solid"/>
          </a:ln>
        </p:spPr>
      </p:sp>
      <p:sp>
        <p:nvSpPr>
          <p:cNvPr id="9" name="scope-heading-1">
            <a:extLst xmlns:a="http://schemas.openxmlformats.org/drawingml/2006/main">
              <a:ext uri="{FF2B5EF4-FFF2-40B4-BE49-F238E27FC236}">
                <a16:creationId xmlns:a16="http://schemas.microsoft.com/office/drawing/2014/main" id="{1497AEBD-923D-4848-93DE-8A25D65C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6A0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6A06"/>
                </a:solidFill>
                <a:latin typeface="Arial"/>
                <a:ea typeface="Arial"/>
                <a:cs typeface="Arial"/>
              </a:rPr>
              <a:t>OPERATING LIMITS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900083D4-1C22-47F0-B61E-BFA98A6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800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36 primary runs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$20 API cap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$10 deployment cap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16 GB RAM + 25 GB storage</a:t>
            </a:r>
          </a:p>
        </p:txBody>
      </p:sp>
      <p:sp>
        <p:nvSpPr>
          <p:cNvPr id="11" name="scope-card-2">
            <a:extLst xmlns:a="http://schemas.openxmlformats.org/drawingml/2006/main">
              <a:ext uri="{FF2B5EF4-FFF2-40B4-BE49-F238E27FC236}">
                <a16:creationId xmlns:a16="http://schemas.microsoft.com/office/drawing/2014/main" id="{B799ABD7-D4D7-4134-98AF-2965377C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38375"/>
            <a:ext cx="33337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A8DCC9"/>
            </a:solidFill>
            <a:prstDash val="solid"/>
          </a:ln>
        </p:spPr>
      </p:sp>
      <p:sp>
        <p:nvSpPr>
          <p:cNvPr id="12" name="scope-heading-2">
            <a:extLst xmlns:a="http://schemas.openxmlformats.org/drawingml/2006/main">
              <a:ext uri="{FF2B5EF4-FFF2-40B4-BE49-F238E27FC236}">
                <a16:creationId xmlns:a16="http://schemas.microsoft.com/office/drawing/2014/main" id="{4BD34625-F744-4613-B128-96A15CA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8A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8A63"/>
                </a:solidFill>
                <a:latin typeface="Arial"/>
                <a:ea typeface="Arial"/>
                <a:cs typeface="Arial"/>
              </a:rPr>
              <a:t>SAFEGUARDS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A329AD31-2AB5-4485-A4F1-7B0C4069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800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Synthetic fixtures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Disposable repositories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Restricted tools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License and secret checks</a:t>
            </a:r>
          </a:p>
        </p:txBody>
      </p:sp>
      <p:sp>
        <p:nvSpPr>
          <p:cNvPr id="14" name="scope-foot">
            <a:extLst xmlns:a="http://schemas.openxmlformats.org/drawingml/2006/main">
              <a:ext uri="{FF2B5EF4-FFF2-40B4-BE49-F238E27FC236}">
                <a16:creationId xmlns:a16="http://schemas.microsoft.com/office/drawing/2014/main" id="{4475649A-C6E2-4187-8EA3-785FDB86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674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High-risk unresolved conflicts are quarantined. Results stay bounded to the tested scenarios.</a:t>
            </a:r>
          </a:p>
        </p:txBody>
      </p:sp>
    </p:spTree>
    <p:extLst>
      <p:ext uri="{BB962C8B-B14F-4D97-AF65-F5344CB8AC3E}">
        <p14:creationId xmlns:p14="http://schemas.microsoft.com/office/powerpoint/2010/main" val="14996495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3DD0DFAD-B314-49F5-90A8-C09A19C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C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BFF"/>
                </a:solidFill>
                <a:latin typeface="Arial"/>
                <a:ea typeface="Arial"/>
                <a:cs typeface="Arial"/>
              </a:rPr>
              <a:t>MILESTONE 1 DECISION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43580C7-1422-4701-8E4A-E8BB6795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8477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the plan.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one narrow scenario.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Calibrate from evidence.</a:t>
            </a:r>
          </a:p>
        </p:txBody>
      </p:sp>
      <p:cxnSp>
        <p:nvCxnSpPr>
          <p:cNvPr id="16" name="close-line"/>
          <p:cNvCxnSpPr/>
          <p:nvPr/>
        </p:nvCxnSpPr>
        <p:spPr>
          <a:xfrm xmlns:a="http://schemas.openxmlformats.org/drawingml/2006/main">
            <a:off x="628650" y="40957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1B6D7"/>
            </a:solidFill>
            <a:prstDash val="solid"/>
          </a:ln>
        </p:spPr>
      </p:cxnSp>
      <p:sp>
        <p:nvSpPr>
          <p:cNvPr id="4" name="ask-num-0">
            <a:extLst xmlns:a="http://schemas.openxmlformats.org/drawingml/2006/main">
              <a:ext uri="{FF2B5EF4-FFF2-40B4-BE49-F238E27FC236}">
                <a16:creationId xmlns:a16="http://schemas.microsoft.com/office/drawing/2014/main" id="{70967AAE-2D03-4541-A392-B7C688D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B6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B6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ask-title-0">
            <a:extLst xmlns:a="http://schemas.openxmlformats.org/drawingml/2006/main">
              <a:ext uri="{FF2B5EF4-FFF2-40B4-BE49-F238E27FC236}">
                <a16:creationId xmlns:a16="http://schemas.microsoft.com/office/drawing/2014/main" id="{01825410-8E55-466C-9DB1-FDF98649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672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Different enough?</a:t>
            </a:r>
          </a:p>
        </p:txBody>
      </p:sp>
      <p:sp>
        <p:nvSpPr>
          <p:cNvPr id="6" name="ask-body-0">
            <a:extLst xmlns:a="http://schemas.openxmlformats.org/drawingml/2006/main">
              <a:ext uri="{FF2B5EF4-FFF2-40B4-BE49-F238E27FC236}">
                <a16:creationId xmlns:a16="http://schemas.microsoft.com/office/drawing/2014/main" id="{B91C35C4-8DDF-4488-B088-97E6614D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3F7"/>
                </a:solidFill>
                <a:latin typeface="Arial"/>
                <a:ea typeface="Arial"/>
                <a:cs typeface="Arial"/>
              </a:rPr>
              <a:t>Is this more than a prompt builder?</a:t>
            </a:r>
          </a:p>
        </p:txBody>
      </p:sp>
      <p:sp>
        <p:nvSpPr>
          <p:cNvPr id="7" name="ask-num-1">
            <a:extLst xmlns:a="http://schemas.openxmlformats.org/drawingml/2006/main">
              <a:ext uri="{FF2B5EF4-FFF2-40B4-BE49-F238E27FC236}">
                <a16:creationId xmlns:a16="http://schemas.microsoft.com/office/drawing/2014/main" id="{33830CCF-B362-437B-A4BD-02914CD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B6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B6D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ask-title-1">
            <a:extLst xmlns:a="http://schemas.openxmlformats.org/drawingml/2006/main">
              <a:ext uri="{FF2B5EF4-FFF2-40B4-BE49-F238E27FC236}">
                <a16:creationId xmlns:a16="http://schemas.microsoft.com/office/drawing/2014/main" id="{426DFFCD-0C49-48B9-83A9-FD9BE8B2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672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Right MVP boundary?</a:t>
            </a:r>
          </a:p>
        </p:txBody>
      </p:sp>
      <p:sp>
        <p:nvSpPr>
          <p:cNvPr id="9" name="ask-body-1">
            <a:extLst xmlns:a="http://schemas.openxmlformats.org/drawingml/2006/main">
              <a:ext uri="{FF2B5EF4-FFF2-40B4-BE49-F238E27FC236}">
                <a16:creationId xmlns:a16="http://schemas.microsoft.com/office/drawing/2014/main" id="{955D7C2F-D8E3-4D9F-B0FC-252C6D7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3F7"/>
                </a:solidFill>
                <a:latin typeface="Arial"/>
                <a:ea typeface="Arial"/>
                <a:cs typeface="Arial"/>
              </a:rPr>
              <a:t>Is deterministic governance sufficient?</a:t>
            </a:r>
          </a:p>
        </p:txBody>
      </p:sp>
      <p:sp>
        <p:nvSpPr>
          <p:cNvPr id="10" name="ask-num-2">
            <a:extLst xmlns:a="http://schemas.openxmlformats.org/drawingml/2006/main">
              <a:ext uri="{FF2B5EF4-FFF2-40B4-BE49-F238E27FC236}">
                <a16:creationId xmlns:a16="http://schemas.microsoft.com/office/drawing/2014/main" id="{423385FD-0F17-4492-BCAD-F31D384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B6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B6D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ask-title-2">
            <a:extLst xmlns:a="http://schemas.openxmlformats.org/drawingml/2006/main">
              <a:ext uri="{FF2B5EF4-FFF2-40B4-BE49-F238E27FC236}">
                <a16:creationId xmlns:a16="http://schemas.microsoft.com/office/drawing/2014/main" id="{BAA8E051-7BFE-4335-A3B0-4B1B965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672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Credible evaluation?</a:t>
            </a:r>
          </a:p>
        </p:txBody>
      </p:sp>
      <p:sp>
        <p:nvSpPr>
          <p:cNvPr id="12" name="ask-body-2">
            <a:extLst xmlns:a="http://schemas.openxmlformats.org/drawingml/2006/main">
              <a:ext uri="{FF2B5EF4-FFF2-40B4-BE49-F238E27FC236}">
                <a16:creationId xmlns:a16="http://schemas.microsoft.com/office/drawing/2014/main" id="{8938F3B4-6CB3-47C8-9D26-8B97C0A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14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3F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3F7"/>
                </a:solidFill>
                <a:latin typeface="Arial"/>
                <a:ea typeface="Arial"/>
                <a:cs typeface="Arial"/>
              </a:rPr>
              <a:t>Do paired runs support the claim?</a:t>
            </a:r>
          </a:p>
        </p:txBody>
      </p:sp>
      <p:sp>
        <p:nvSpPr>
          <p:cNvPr id="13" name="close-team">
            <a:extLst xmlns:a="http://schemas.openxmlformats.org/drawingml/2006/main">
              <a:ext uri="{FF2B5EF4-FFF2-40B4-BE49-F238E27FC236}">
                <a16:creationId xmlns:a16="http://schemas.microsoft.com/office/drawing/2014/main" id="{3B0059AE-1D4F-41C8-B5A3-5B2AD77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B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BFF"/>
                </a:solidFill>
                <a:latin typeface="Arial"/>
                <a:ea typeface="Arial"/>
                <a:cs typeface="Arial"/>
              </a:rPr>
              <a:t>Agent Accountability Lab  |  Bryan Yang, Will Liu, Guadalupe Cantera</a:t>
            </a:r>
          </a:p>
        </p:txBody>
      </p:sp>
    </p:spTree>
    <p:extLst>
      <p:ext uri="{BB962C8B-B14F-4D97-AF65-F5344CB8AC3E}">
        <p14:creationId xmlns:p14="http://schemas.microsoft.com/office/powerpoint/2010/main" val="20177919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2026-09-02T16:04:53.0940000Z</dcterms:created>
  <dcterms:modified xsi:type="dcterms:W3CDTF">2026-09-02T16:04:53.0940000Z</dcterms:modified>
</coreProperties>
</file>