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OmiSUTnVwA7H/RS65ECz4qKhx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b39db2dec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g3fb39db2dec_5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fb39db2dec_5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b39db2de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g3fb39db2dec_2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fb39db2dec_2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39db2dec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g3fb39db2dec_2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b39db2dec_2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39db2dec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fb39db2dec_2_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b39db2dec_2_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b39db2dec_5_0"/>
          <p:cNvSpPr txBox="1"/>
          <p:nvPr/>
        </p:nvSpPr>
        <p:spPr>
          <a:xfrm>
            <a:off x="640080" y="59436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Research Meeting Follow-up Assistant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fb39db2dec_5_0"/>
          <p:cNvSpPr txBox="1"/>
          <p:nvPr/>
        </p:nvSpPr>
        <p:spPr>
          <a:xfrm>
            <a:off x="640080" y="1371600"/>
            <a:ext cx="109087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2000"/>
              <a:buFont typeface="Arial"/>
              <a:buNone/>
            </a:pPr>
            <a:r>
              <a:rPr lang="en-US" sz="2400" b="1" i="0" u="none" strike="noStrike" cap="non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Meeting memory and proactive follow-through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fb39db2dec_5_0"/>
          <p:cNvSpPr txBox="1"/>
          <p:nvPr/>
        </p:nvSpPr>
        <p:spPr>
          <a:xfrm>
            <a:off x="640080" y="251460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lang="en-US" sz="2200" i="0" u="none" strike="noStrike" cap="none">
                <a:solidFill>
                  <a:srgbClr val="087F8C"/>
                </a:solidFill>
              </a:rPr>
              <a:t>-</a:t>
            </a:r>
            <a:endParaRPr sz="2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1" name="Google Shape;21;g3fb39db2dec_5_0"/>
          <p:cNvSpPr txBox="1"/>
          <p:nvPr/>
        </p:nvSpPr>
        <p:spPr>
          <a:xfrm>
            <a:off x="960120" y="251460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1500"/>
              <a:buFont typeface="Arial"/>
              <a:buNone/>
            </a:pPr>
            <a:r>
              <a:rPr lang="en-US" sz="2200" i="0" u="none" strike="noStrike" cap="none" dirty="0">
                <a:solidFill>
                  <a:srgbClr val="142B3D"/>
                </a:solidFill>
              </a:rPr>
              <a:t>Built for PhD advisors and their researchers</a:t>
            </a:r>
            <a:endParaRPr sz="22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2" name="Google Shape;22;g3fb39db2dec_5_0"/>
          <p:cNvSpPr txBox="1"/>
          <p:nvPr/>
        </p:nvSpPr>
        <p:spPr>
          <a:xfrm>
            <a:off x="640080" y="301752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lang="en-US" sz="2200" i="0" u="none" strike="noStrike" cap="none">
                <a:solidFill>
                  <a:srgbClr val="087F8C"/>
                </a:solidFill>
              </a:rPr>
              <a:t>-</a:t>
            </a:r>
            <a:endParaRPr sz="2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3" name="Google Shape;23;g3fb39db2dec_5_0"/>
          <p:cNvSpPr txBox="1"/>
          <p:nvPr/>
        </p:nvSpPr>
        <p:spPr>
          <a:xfrm>
            <a:off x="960120" y="301752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1500"/>
              <a:buFont typeface="Arial"/>
              <a:buNone/>
            </a:pPr>
            <a:r>
              <a:rPr lang="en-US" sz="2200" i="0" u="none" strike="noStrike" cap="none" dirty="0">
                <a:solidFill>
                  <a:srgbClr val="142B3D"/>
                </a:solidFill>
              </a:rPr>
              <a:t>Tracks commitments and reminds owners between meetings</a:t>
            </a:r>
            <a:endParaRPr sz="22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4" name="Google Shape;24;g3fb39db2dec_5_0"/>
          <p:cNvSpPr txBox="1"/>
          <p:nvPr/>
        </p:nvSpPr>
        <p:spPr>
          <a:xfrm>
            <a:off x="640080" y="352044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lang="en-US" sz="2200" i="0" u="none" strike="noStrike" cap="none">
                <a:solidFill>
                  <a:srgbClr val="087F8C"/>
                </a:solidFill>
              </a:rPr>
              <a:t>-</a:t>
            </a:r>
            <a:endParaRPr sz="2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5" name="Google Shape;25;g3fb39db2dec_5_0"/>
          <p:cNvSpPr txBox="1"/>
          <p:nvPr/>
        </p:nvSpPr>
        <p:spPr>
          <a:xfrm>
            <a:off x="960120" y="352044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1500"/>
              <a:buFont typeface="Arial"/>
              <a:buNone/>
            </a:pPr>
            <a:r>
              <a:rPr lang="en-US" sz="2200" i="0" u="none" strike="noStrike" cap="none" dirty="0">
                <a:solidFill>
                  <a:srgbClr val="142B3D"/>
                </a:solidFill>
              </a:rPr>
              <a:t>Extends CCB's transcripts with cited history and scheduled follow-up</a:t>
            </a:r>
            <a:endParaRPr sz="2200" i="0" u="none" strike="noStrike" cap="none" dirty="0">
              <a:solidFill>
                <a:schemeClr val="dk1"/>
              </a:solidFill>
            </a:endParaRPr>
          </a:p>
        </p:txBody>
      </p:sp>
      <p:cxnSp>
        <p:nvCxnSpPr>
          <p:cNvPr id="26" name="Google Shape;26;g3fb39db2dec_5_0"/>
          <p:cNvCxnSpPr/>
          <p:nvPr/>
        </p:nvCxnSpPr>
        <p:spPr>
          <a:xfrm>
            <a:off x="640080" y="4160520"/>
            <a:ext cx="10908792" cy="0"/>
          </a:xfrm>
          <a:prstGeom prst="straightConnector1">
            <a:avLst/>
          </a:prstGeom>
          <a:noFill/>
          <a:ln w="12700" cap="flat" cmpd="sng">
            <a:solidFill>
              <a:srgbClr val="E1E7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g3fb39db2dec_5_0"/>
          <p:cNvSpPr txBox="1"/>
          <p:nvPr/>
        </p:nvSpPr>
        <p:spPr>
          <a:xfrm>
            <a:off x="640080" y="4389120"/>
            <a:ext cx="109087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087F8C"/>
                </a:solidFill>
              </a:rPr>
              <a:t>Engineering question   </a:t>
            </a:r>
            <a:r>
              <a:rPr lang="en-US" sz="2100" i="1" u="none" strike="noStrike" cap="none" dirty="0">
                <a:solidFill>
                  <a:srgbClr val="142B3D"/>
                </a:solidFill>
              </a:rPr>
              <a:t>Can an assistant reliably maintain commitments across a sequence of meetings while reducing manual reconciliation and avoiding unsupported updates?</a:t>
            </a:r>
            <a:endParaRPr sz="2100" i="0" u="none" strike="noStrike" cap="none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b39db2dec_2_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lang="en-US" sz="1800" b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PROBLEM &amp; MOTIVATION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b39db2dec_2_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lang="en-US" sz="29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Context Gets Lost Between Meetings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b39db2dec_2_2"/>
          <p:cNvSpPr txBox="1"/>
          <p:nvPr/>
        </p:nvSpPr>
        <p:spPr>
          <a:xfrm>
            <a:off x="640075" y="1353051"/>
            <a:ext cx="4734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760"/>
              <a:buFont typeface="Cambria"/>
              <a:buNone/>
            </a:pPr>
            <a:r>
              <a:rPr lang="en-US" sz="2381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38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b39db2dec_2_2"/>
          <p:cNvSpPr txBox="1"/>
          <p:nvPr/>
        </p:nvSpPr>
        <p:spPr>
          <a:xfrm>
            <a:off x="1113443" y="1353051"/>
            <a:ext cx="108210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98"/>
              <a:buFont typeface="Calibri"/>
              <a:buNone/>
            </a:pPr>
            <a:r>
              <a:rPr lang="en-US" sz="2019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Weekly research meetings generate commitments, decisions, deadlines, and professor suggestions that must be tracked across weeks, and reconciled against everything decided before.</a:t>
            </a:r>
            <a:endParaRPr sz="20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b39db2dec_2_2"/>
          <p:cNvSpPr txBox="1"/>
          <p:nvPr/>
        </p:nvSpPr>
        <p:spPr>
          <a:xfrm>
            <a:off x="640075" y="2034694"/>
            <a:ext cx="4734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760"/>
              <a:buFont typeface="Cambria"/>
              <a:buNone/>
            </a:pPr>
            <a:r>
              <a:rPr lang="en-US" sz="2381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38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b39db2dec_2_2"/>
          <p:cNvSpPr txBox="1"/>
          <p:nvPr/>
        </p:nvSpPr>
        <p:spPr>
          <a:xfrm>
            <a:off x="1113443" y="2034694"/>
            <a:ext cx="108210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98"/>
              <a:buFont typeface="Calibri"/>
              <a:buNone/>
            </a:pPr>
            <a:r>
              <a:rPr lang="en-US" sz="2019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meeting summary captures what happened in one meeting. Connecting it back to earlier commitments, deadlines, and open suggestions is left entirely to the user.</a:t>
            </a:r>
            <a:endParaRPr sz="20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b39db2dec_2_2"/>
          <p:cNvSpPr txBox="1"/>
          <p:nvPr/>
        </p:nvSpPr>
        <p:spPr>
          <a:xfrm>
            <a:off x="640075" y="2716337"/>
            <a:ext cx="4734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760"/>
              <a:buFont typeface="Cambria"/>
              <a:buNone/>
            </a:pPr>
            <a:r>
              <a:rPr lang="en-US" sz="2381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38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b39db2dec_2_2"/>
          <p:cNvSpPr txBox="1"/>
          <p:nvPr/>
        </p:nvSpPr>
        <p:spPr>
          <a:xfrm>
            <a:off x="939875" y="2792075"/>
            <a:ext cx="108210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98"/>
              <a:buFont typeface="Calibri"/>
              <a:buNone/>
            </a:pPr>
            <a:r>
              <a:rPr lang="en-US" sz="2019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result: duplicated work, forgotten commitments, unclear ownership, and decisions whose original reasoning becomes hard to recover.</a:t>
            </a:r>
            <a:endParaRPr sz="20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g3fb39db2dec_2_2"/>
          <p:cNvCxnSpPr/>
          <p:nvPr/>
        </p:nvCxnSpPr>
        <p:spPr>
          <a:xfrm>
            <a:off x="703180" y="3604364"/>
            <a:ext cx="10908900" cy="0"/>
          </a:xfrm>
          <a:prstGeom prst="straightConnector1">
            <a:avLst/>
          </a:prstGeom>
          <a:noFill/>
          <a:ln w="12700" cap="flat" cmpd="sng">
            <a:solidFill>
              <a:srgbClr val="E3E7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g3fb39db2dec_2_2"/>
          <p:cNvSpPr txBox="1"/>
          <p:nvPr/>
        </p:nvSpPr>
        <p:spPr>
          <a:xfrm>
            <a:off x="640075" y="3697262"/>
            <a:ext cx="7573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91"/>
              <a:buFont typeface="Calibri"/>
              <a:buNone/>
            </a:pPr>
            <a:r>
              <a:rPr lang="en-US" sz="2019" b="1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ONE TASK ACROSS THREE MEETINGS</a:t>
            </a:r>
            <a:endParaRPr sz="20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b39db2dec_2_2"/>
          <p:cNvSpPr txBox="1"/>
          <p:nvPr/>
        </p:nvSpPr>
        <p:spPr>
          <a:xfrm>
            <a:off x="640075" y="4119564"/>
            <a:ext cx="14673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4"/>
              <a:buFont typeface="Calibri"/>
              <a:buNone/>
            </a:pPr>
            <a:r>
              <a:rPr lang="en-US" sz="2022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Meeting 4</a:t>
            </a:r>
            <a:endParaRPr sz="2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b39db2dec_2_2"/>
          <p:cNvSpPr txBox="1"/>
          <p:nvPr/>
        </p:nvSpPr>
        <p:spPr>
          <a:xfrm>
            <a:off x="2107492" y="4074239"/>
            <a:ext cx="98271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94"/>
              <a:buFont typeface="Calibri"/>
              <a:buNone/>
            </a:pPr>
            <a:r>
              <a:rPr lang="en-US" sz="2022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Will commits to rerun the baseline by Friday. Before the deadline, the system sends him a scheduled reminder.</a:t>
            </a:r>
            <a:endParaRPr sz="20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fb39db2dec_2_2"/>
          <p:cNvSpPr txBox="1"/>
          <p:nvPr/>
        </p:nvSpPr>
        <p:spPr>
          <a:xfrm>
            <a:off x="640075" y="4736956"/>
            <a:ext cx="14673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4"/>
              <a:buFont typeface="Calibri"/>
              <a:buNone/>
            </a:pPr>
            <a:r>
              <a:rPr lang="en-US" sz="2022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Meeting 5</a:t>
            </a:r>
            <a:endParaRPr sz="2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fb39db2dec_2_2"/>
          <p:cNvSpPr txBox="1"/>
          <p:nvPr/>
        </p:nvSpPr>
        <p:spPr>
          <a:xfrm>
            <a:off x="2107492" y="4736956"/>
            <a:ext cx="98271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94"/>
              <a:buFont typeface="Calibri"/>
              <a:buNone/>
            </a:pPr>
            <a:r>
              <a:rPr lang="en-US" sz="2022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“The rerun finished early.” Evidence updates the existing task to done and cancels pending reminders.</a:t>
            </a:r>
            <a:endParaRPr sz="20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fb39db2dec_2_2"/>
          <p:cNvSpPr txBox="1"/>
          <p:nvPr/>
        </p:nvSpPr>
        <p:spPr>
          <a:xfrm>
            <a:off x="640075" y="5475399"/>
            <a:ext cx="14673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4"/>
              <a:buFont typeface="Calibri"/>
              <a:buNone/>
            </a:pPr>
            <a:r>
              <a:rPr lang="en-US" sz="2022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Meeting 6</a:t>
            </a:r>
            <a:endParaRPr sz="20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b39db2dec_2_2"/>
          <p:cNvSpPr txBox="1"/>
          <p:nvPr/>
        </p:nvSpPr>
        <p:spPr>
          <a:xfrm>
            <a:off x="2107492" y="5475399"/>
            <a:ext cx="98271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94"/>
              <a:buFont typeface="Calibri"/>
              <a:buNone/>
            </a:pPr>
            <a:r>
              <a:rPr lang="en-US" sz="2022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The advisor's papers remain unsent. The task stays open, appears in the next brief, and receives follow-up on the configured schedule.</a:t>
            </a:r>
            <a:endParaRPr sz="20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fb39db2dec_2_2"/>
          <p:cNvSpPr txBox="1"/>
          <p:nvPr/>
        </p:nvSpPr>
        <p:spPr>
          <a:xfrm>
            <a:off x="703175" y="6303995"/>
            <a:ext cx="112944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919" i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Professor suggestions stay separate from commitments until a researcher explicitly accepts them.</a:t>
            </a:r>
            <a:endParaRPr sz="19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39db2dec_2_24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lang="en-US" sz="1800" b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b39db2dec_2_24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lang="en-US" sz="29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It Works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b39db2dec_2_24"/>
          <p:cNvSpPr txBox="1"/>
          <p:nvPr/>
        </p:nvSpPr>
        <p:spPr>
          <a:xfrm>
            <a:off x="471925" y="1417324"/>
            <a:ext cx="385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80"/>
              <a:buFont typeface="Cambria"/>
              <a:buNone/>
            </a:pPr>
            <a:r>
              <a:rPr lang="en-US" sz="2180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b39db2dec_2_24"/>
          <p:cNvSpPr txBox="1"/>
          <p:nvPr/>
        </p:nvSpPr>
        <p:spPr>
          <a:xfrm>
            <a:off x="857241" y="1417324"/>
            <a:ext cx="5119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75"/>
              <a:buFont typeface="Calibri"/>
              <a:buNone/>
            </a:pPr>
            <a:r>
              <a:rPr lang="en-US" sz="2075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b39db2dec_2_24"/>
          <p:cNvSpPr txBox="1"/>
          <p:nvPr/>
        </p:nvSpPr>
        <p:spPr>
          <a:xfrm>
            <a:off x="857241" y="1725579"/>
            <a:ext cx="5119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11"/>
              <a:buFont typeface="Calibri"/>
              <a:buNone/>
            </a:pPr>
            <a:r>
              <a:rPr lang="en-US" sz="181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Watch a configured folder; gate on consent; associate the artifact with a project and calendar event.</a:t>
            </a:r>
            <a:endParaRPr sz="18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b39db2dec_2_24"/>
          <p:cNvSpPr txBox="1"/>
          <p:nvPr/>
        </p:nvSpPr>
        <p:spPr>
          <a:xfrm>
            <a:off x="6458779" y="1417324"/>
            <a:ext cx="385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80"/>
              <a:buFont typeface="Cambria"/>
              <a:buNone/>
            </a:pPr>
            <a:r>
              <a:rPr lang="en-US" sz="2180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b39db2dec_2_24"/>
          <p:cNvSpPr txBox="1"/>
          <p:nvPr/>
        </p:nvSpPr>
        <p:spPr>
          <a:xfrm>
            <a:off x="6844095" y="1417324"/>
            <a:ext cx="5119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75"/>
              <a:buFont typeface="Calibri"/>
              <a:buNone/>
            </a:pPr>
            <a:r>
              <a:rPr lang="en-US" sz="2075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Transcribe &amp; confirm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b39db2dec_2_24"/>
          <p:cNvSpPr txBox="1"/>
          <p:nvPr/>
        </p:nvSpPr>
        <p:spPr>
          <a:xfrm>
            <a:off x="6844095" y="1725579"/>
            <a:ext cx="5119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11"/>
              <a:buFont typeface="Calibri"/>
              <a:buNone/>
            </a:pPr>
            <a:r>
              <a:rPr lang="en-US" sz="181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Import the sponsor's timestamped transcript; confirm or correct speaker mapping.</a:t>
            </a:r>
            <a:endParaRPr sz="18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b39db2dec_2_24"/>
          <p:cNvSpPr txBox="1"/>
          <p:nvPr/>
        </p:nvSpPr>
        <p:spPr>
          <a:xfrm>
            <a:off x="471925" y="2361353"/>
            <a:ext cx="385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80"/>
              <a:buFont typeface="Cambria"/>
              <a:buNone/>
            </a:pPr>
            <a:r>
              <a:rPr lang="en-US" sz="2180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b39db2dec_2_24"/>
          <p:cNvSpPr txBox="1"/>
          <p:nvPr/>
        </p:nvSpPr>
        <p:spPr>
          <a:xfrm>
            <a:off x="857241" y="2361353"/>
            <a:ext cx="5119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75"/>
              <a:buFont typeface="Calibri"/>
              <a:buNone/>
            </a:pPr>
            <a:r>
              <a:rPr lang="en-US" sz="2075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fb39db2dec_2_24"/>
          <p:cNvSpPr txBox="1"/>
          <p:nvPr/>
        </p:nvSpPr>
        <p:spPr>
          <a:xfrm>
            <a:off x="857241" y="2669607"/>
            <a:ext cx="5119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11"/>
              <a:buFont typeface="Calibri"/>
              <a:buNone/>
            </a:pPr>
            <a:r>
              <a:rPr lang="en-US" sz="181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Pull decisions, owned commitments, and professor suggestions, each with source evidence.</a:t>
            </a:r>
            <a:endParaRPr sz="18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b39db2dec_2_24"/>
          <p:cNvSpPr txBox="1"/>
          <p:nvPr/>
        </p:nvSpPr>
        <p:spPr>
          <a:xfrm>
            <a:off x="6458779" y="2361353"/>
            <a:ext cx="385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80"/>
              <a:buFont typeface="Cambria"/>
              <a:buNone/>
            </a:pPr>
            <a:r>
              <a:rPr lang="en-US" sz="2180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b39db2dec_2_24"/>
          <p:cNvSpPr txBox="1"/>
          <p:nvPr/>
        </p:nvSpPr>
        <p:spPr>
          <a:xfrm>
            <a:off x="6844095" y="2361353"/>
            <a:ext cx="5119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75"/>
              <a:buFont typeface="Calibri"/>
              <a:buNone/>
            </a:pPr>
            <a:r>
              <a:rPr lang="en-US" sz="2075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Reconcile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b39db2dec_2_24"/>
          <p:cNvSpPr txBox="1"/>
          <p:nvPr/>
        </p:nvSpPr>
        <p:spPr>
          <a:xfrm>
            <a:off x="6844095" y="2669607"/>
            <a:ext cx="5119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11"/>
              <a:buFont typeface="Calibri"/>
              <a:buNone/>
            </a:pPr>
            <a:r>
              <a:rPr lang="en-US" sz="181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Match later statements to existing tasks using project, owner, and source evidence.</a:t>
            </a:r>
            <a:endParaRPr sz="18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b39db2dec_2_24"/>
          <p:cNvSpPr txBox="1"/>
          <p:nvPr/>
        </p:nvSpPr>
        <p:spPr>
          <a:xfrm>
            <a:off x="471925" y="3305381"/>
            <a:ext cx="385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80"/>
              <a:buFont typeface="Cambria"/>
              <a:buNone/>
            </a:pPr>
            <a:r>
              <a:rPr lang="en-US" sz="2180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b39db2dec_2_24"/>
          <p:cNvSpPr txBox="1"/>
          <p:nvPr/>
        </p:nvSpPr>
        <p:spPr>
          <a:xfrm>
            <a:off x="857241" y="3305381"/>
            <a:ext cx="5119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75"/>
              <a:buFont typeface="Calibri"/>
              <a:buNone/>
            </a:pPr>
            <a:r>
              <a:rPr lang="en-US" sz="2075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fb39db2dec_2_24"/>
          <p:cNvSpPr txBox="1"/>
          <p:nvPr/>
        </p:nvSpPr>
        <p:spPr>
          <a:xfrm>
            <a:off x="857241" y="3613635"/>
            <a:ext cx="5119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11"/>
              <a:buFont typeface="Calibri"/>
              <a:buNone/>
            </a:pPr>
            <a:r>
              <a:rPr lang="en-US" sz="181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Apply evidenced changes automatically, or route ambiguous matches to human review.</a:t>
            </a:r>
            <a:endParaRPr sz="18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b39db2dec_2_24"/>
          <p:cNvSpPr txBox="1"/>
          <p:nvPr/>
        </p:nvSpPr>
        <p:spPr>
          <a:xfrm>
            <a:off x="6458779" y="3305381"/>
            <a:ext cx="385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80"/>
              <a:buFont typeface="Cambria"/>
              <a:buNone/>
            </a:pPr>
            <a:r>
              <a:rPr lang="en-US" sz="2180" b="1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b39db2dec_2_24"/>
          <p:cNvSpPr txBox="1"/>
          <p:nvPr/>
        </p:nvSpPr>
        <p:spPr>
          <a:xfrm>
            <a:off x="6844095" y="3305381"/>
            <a:ext cx="5119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75"/>
              <a:buFont typeface="Calibri"/>
              <a:buNone/>
            </a:pPr>
            <a:r>
              <a:rPr lang="en-US" sz="2075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Follow through</a:t>
            </a:r>
            <a:endParaRPr sz="20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b39db2dec_2_24"/>
          <p:cNvSpPr txBox="1"/>
          <p:nvPr/>
        </p:nvSpPr>
        <p:spPr>
          <a:xfrm>
            <a:off x="6844095" y="3613635"/>
            <a:ext cx="5119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11"/>
              <a:buFont typeface="Calibri"/>
              <a:buNone/>
            </a:pPr>
            <a:r>
              <a:rPr lang="en-US" sz="181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Remind owners on a configured schedule. Cancel or reschedule reminders as tasks change.</a:t>
            </a:r>
            <a:endParaRPr sz="18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g3fb39db2dec_2_24"/>
          <p:cNvCxnSpPr/>
          <p:nvPr/>
        </p:nvCxnSpPr>
        <p:spPr>
          <a:xfrm>
            <a:off x="640080" y="4526280"/>
            <a:ext cx="10908792" cy="0"/>
          </a:xfrm>
          <a:prstGeom prst="straightConnector1">
            <a:avLst/>
          </a:prstGeom>
          <a:noFill/>
          <a:ln w="12700" cap="flat" cmpd="sng">
            <a:solidFill>
              <a:srgbClr val="E3E7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g3fb39db2dec_2_24"/>
          <p:cNvSpPr txBox="1"/>
          <p:nvPr/>
        </p:nvSpPr>
        <p:spPr>
          <a:xfrm>
            <a:off x="339800" y="4784625"/>
            <a:ext cx="16965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64"/>
              <a:buFont typeface="Calibri"/>
              <a:buNone/>
            </a:pPr>
            <a:r>
              <a:rPr lang="en-US" sz="1664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6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b39db2dec_2_24"/>
          <p:cNvSpPr txBox="1"/>
          <p:nvPr/>
        </p:nvSpPr>
        <p:spPr>
          <a:xfrm>
            <a:off x="2036244" y="4784625"/>
            <a:ext cx="10208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364"/>
              <a:buFont typeface="Calibri"/>
              <a:buNone/>
            </a:pPr>
            <a:r>
              <a:rPr lang="en-US" sz="1664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Python service · SQLite · one LLM behind a schema-validated adapter · Whisper / </a:t>
            </a:r>
            <a:r>
              <a:rPr lang="en-US" sz="1664" dirty="0" err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pyannote.audio</a:t>
            </a:r>
            <a:r>
              <a:rPr lang="en-US" sz="1664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 if the sponsor pipeline can't be reused.</a:t>
            </a:r>
            <a:endParaRPr sz="166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b39db2dec_2_24"/>
          <p:cNvSpPr txBox="1"/>
          <p:nvPr/>
        </p:nvSpPr>
        <p:spPr>
          <a:xfrm>
            <a:off x="339800" y="5391735"/>
            <a:ext cx="16965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64"/>
              <a:buFont typeface="Calibri"/>
              <a:buNone/>
            </a:pPr>
            <a:r>
              <a:rPr lang="en-US" sz="1664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Focus areas</a:t>
            </a:r>
            <a:endParaRPr sz="16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b39db2dec_2_24"/>
          <p:cNvSpPr txBox="1"/>
          <p:nvPr/>
        </p:nvSpPr>
        <p:spPr>
          <a:xfrm>
            <a:off x="2036244" y="5391735"/>
            <a:ext cx="10208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364"/>
              <a:buFont typeface="Calibri"/>
              <a:buNone/>
            </a:pPr>
            <a:r>
              <a:rPr lang="en-US" sz="1664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Prompting + RAG for cited Q&amp;A. CLI and local service. Offline tests and follow-up delivery checks.</a:t>
            </a:r>
            <a:endParaRPr sz="166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b39db2dec_2_24"/>
          <p:cNvSpPr txBox="1"/>
          <p:nvPr/>
        </p:nvSpPr>
        <p:spPr>
          <a:xfrm>
            <a:off x="339800" y="5998845"/>
            <a:ext cx="16965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64"/>
              <a:buFont typeface="Calibri"/>
              <a:buNone/>
            </a:pPr>
            <a:r>
              <a:rPr lang="en-US" sz="1664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Deferred</a:t>
            </a:r>
            <a:endParaRPr sz="16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b39db2dec_2_24"/>
          <p:cNvSpPr txBox="1"/>
          <p:nvPr/>
        </p:nvSpPr>
        <p:spPr>
          <a:xfrm>
            <a:off x="2036244" y="5998845"/>
            <a:ext cx="10208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364"/>
              <a:buFont typeface="Calibri"/>
              <a:buNone/>
            </a:pPr>
            <a:r>
              <a:rPr lang="en-US" sz="1664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Additional delivery channels, native reminder sync, advanced </a:t>
            </a:r>
            <a:r>
              <a:rPr lang="en-US" sz="1664" dirty="0" err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diarization</a:t>
            </a:r>
            <a:r>
              <a:rPr lang="en-US" sz="1664" dirty="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, voice enrollment, backward planning.</a:t>
            </a:r>
            <a:endParaRPr sz="166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39db2dec_2_55"/>
          <p:cNvSpPr txBox="1"/>
          <p:nvPr/>
        </p:nvSpPr>
        <p:spPr>
          <a:xfrm>
            <a:off x="640080" y="40915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lang="en-US" sz="1800" b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EVIDENCE &amp; RESPONSIBLE USE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b39db2dec_2_55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lang="en-US" sz="29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Evidence, Safeguards, and Non-Goals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b39db2dec_2_55"/>
          <p:cNvSpPr txBox="1"/>
          <p:nvPr/>
        </p:nvSpPr>
        <p:spPr>
          <a:xfrm>
            <a:off x="447905" y="14447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lang="en-US" sz="1850" b="1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EVIDENCE &amp; REVIEW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b39db2dec_2_55"/>
          <p:cNvSpPr txBox="1"/>
          <p:nvPr/>
        </p:nvSpPr>
        <p:spPr>
          <a:xfrm>
            <a:off x="6176621" y="14447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lang="en-US" sz="1850" b="1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PRIVACY &amp; NON-GOALS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b39db2dec_2_55"/>
          <p:cNvSpPr txBox="1"/>
          <p:nvPr/>
        </p:nvSpPr>
        <p:spPr>
          <a:xfrm>
            <a:off x="447905" y="1810513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b39db2dec_2_55"/>
          <p:cNvSpPr txBox="1"/>
          <p:nvPr/>
        </p:nvSpPr>
        <p:spPr>
          <a:xfrm>
            <a:off x="676505" y="1810513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Every participant consents before recording or processing; a non-recorded option is always available.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b39db2dec_2_55"/>
          <p:cNvSpPr txBox="1"/>
          <p:nvPr/>
        </p:nvSpPr>
        <p:spPr>
          <a:xfrm>
            <a:off x="447905" y="2798064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b39db2dec_2_55"/>
          <p:cNvSpPr txBox="1"/>
          <p:nvPr/>
        </p:nvSpPr>
        <p:spPr>
          <a:xfrm>
            <a:off x="676505" y="2798064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Speaker mappings are user-confirmed; every task or decision change cites its source segment and timestamp.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b39db2dec_2_55"/>
          <p:cNvSpPr txBox="1"/>
          <p:nvPr/>
        </p:nvSpPr>
        <p:spPr>
          <a:xfrm>
            <a:off x="447905" y="3785617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b39db2dec_2_55"/>
          <p:cNvSpPr txBox="1"/>
          <p:nvPr/>
        </p:nvSpPr>
        <p:spPr>
          <a:xfrm>
            <a:off x="676505" y="3785617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Review ambiguous matches. Send follow-ups only to user-configured recipients on an enabled schedule.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b39db2dec_2_55"/>
          <p:cNvSpPr txBox="1"/>
          <p:nvPr/>
        </p:nvSpPr>
        <p:spPr>
          <a:xfrm>
            <a:off x="447905" y="4773169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b39db2dec_2_55"/>
          <p:cNvSpPr txBox="1"/>
          <p:nvPr/>
        </p:nvSpPr>
        <p:spPr>
          <a:xfrm>
            <a:off x="676505" y="4773169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Silence in a later meeting never marks a task done or dropped; partial progress is not completion.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b39db2dec_2_55"/>
          <p:cNvSpPr txBox="1"/>
          <p:nvPr/>
        </p:nvSpPr>
        <p:spPr>
          <a:xfrm>
            <a:off x="6176621" y="1810513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b39db2dec_2_55"/>
          <p:cNvSpPr txBox="1"/>
          <p:nvPr/>
        </p:nvSpPr>
        <p:spPr>
          <a:xfrm>
            <a:off x="6405221" y="1810513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stays local by default; deletion removes derived artifacts (transcripts, embeddings, indexes), not just audio.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b39db2dec_2_55"/>
          <p:cNvSpPr txBox="1"/>
          <p:nvPr/>
        </p:nvSpPr>
        <p:spPr>
          <a:xfrm>
            <a:off x="6176621" y="2798064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b39db2dec_2_55"/>
          <p:cNvSpPr txBox="1"/>
          <p:nvPr/>
        </p:nvSpPr>
        <p:spPr>
          <a:xfrm>
            <a:off x="6405221" y="2798064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Retrieval and reconciliation are scoped per project - one project's data never appears in another's results.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b39db2dec_2_55"/>
          <p:cNvSpPr txBox="1"/>
          <p:nvPr/>
        </p:nvSpPr>
        <p:spPr>
          <a:xfrm>
            <a:off x="6176621" y="3785617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b39db2dec_2_55"/>
          <p:cNvSpPr txBox="1"/>
          <p:nvPr/>
        </p:nvSpPr>
        <p:spPr>
          <a:xfrm>
            <a:off x="6405221" y="3785617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 productivity or performance scores, no ranking of students or researchers, no monitoring without consent.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b39db2dec_2_55"/>
          <p:cNvSpPr txBox="1"/>
          <p:nvPr/>
        </p:nvSpPr>
        <p:spPr>
          <a:xfrm>
            <a:off x="6176621" y="4773169"/>
            <a:ext cx="2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lang="en-US" sz="20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b39db2dec_2_55"/>
          <p:cNvSpPr txBox="1"/>
          <p:nvPr/>
        </p:nvSpPr>
        <p:spPr>
          <a:xfrm>
            <a:off x="6405221" y="4773169"/>
            <a:ext cx="4951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Sponsor code, datasets, and models are used only after confirming license and redistribution terms.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g3fb39db2dec_2_55"/>
          <p:cNvCxnSpPr/>
          <p:nvPr/>
        </p:nvCxnSpPr>
        <p:spPr>
          <a:xfrm>
            <a:off x="640080" y="5989320"/>
            <a:ext cx="10908792" cy="0"/>
          </a:xfrm>
          <a:prstGeom prst="straightConnector1">
            <a:avLst/>
          </a:prstGeom>
          <a:noFill/>
          <a:ln w="12700" cap="flat" cmpd="sng">
            <a:solidFill>
              <a:srgbClr val="E3E7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g3fb39db2dec_2_55"/>
          <p:cNvSpPr txBox="1"/>
          <p:nvPr/>
        </p:nvSpPr>
        <p:spPr>
          <a:xfrm>
            <a:off x="640080" y="6126480"/>
            <a:ext cx="109087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lang="en-US" sz="1750" i="1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Use consenting team recordings and staged scenarios; confirm source licenses and provider terms before use.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685800" y="552450"/>
            <a:ext cx="108204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953750" y="62103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85800" y="1571625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5" b="1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Does persistent memory beat independent meeting extraction?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85800" y="264795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50" dirty="0">
                <a:solidFill>
                  <a:srgbClr val="233344"/>
                </a:solidFill>
              </a:rPr>
              <a:t>Pilot: 6 meetings in six sequences</a:t>
            </a:r>
          </a:p>
          <a:p>
            <a:r>
              <a:rPr lang="en-US" sz="2250" dirty="0">
                <a:solidFill>
                  <a:srgbClr val="233344"/>
                </a:solidFill>
              </a:rPr>
              <a:t>Held-out human annotations</a:t>
            </a:r>
          </a:p>
          <a:p>
            <a:br>
              <a:rPr lang="en-US" sz="2250" dirty="0">
                <a:solidFill>
                  <a:srgbClr val="233344"/>
                </a:solidFill>
              </a:rPr>
            </a:br>
            <a:endParaRPr sz="2250" dirty="0">
              <a:solidFill>
                <a:srgbClr val="233344"/>
              </a:solidFill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381750" y="2647950"/>
            <a:ext cx="509587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1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≥95% update precision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1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Zero observed unsupported completions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85800" y="421005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dirty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Score tasks, summaries, and cited answers.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dirty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Test reminder timing, cancellation, and duplicates.</a:t>
            </a:r>
            <a:endParaRPr dirty="0"/>
          </a:p>
        </p:txBody>
      </p:sp>
      <p:sp>
        <p:nvSpPr>
          <p:cNvPr id="120" name="Google Shape;120;p4"/>
          <p:cNvSpPr/>
          <p:nvPr/>
        </p:nvSpPr>
        <p:spPr>
          <a:xfrm>
            <a:off x="685800" y="5724525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Provisional targets. No measured results yet.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685800" y="552450"/>
            <a:ext cx="108204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Delivery plan and feedback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0953750" y="62103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85800" y="1657350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PROPOSED OWNERS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85800" y="2181225"/>
            <a:ext cx="104775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Will: extraction and reconciliation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Bryan: runtime, CLI, and integrations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Guadalupe: data and evaluation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85800" y="3819525"/>
            <a:ext cx="106680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Week 5: transcript pipeline     Week 8: reconciliation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Weeks 9-10: follow-up     Weeks 11-12: evaluation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800" y="4905375"/>
            <a:ext cx="106680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Proposed budget: $</a:t>
            </a:r>
            <a:r>
              <a:rPr lang="en-US" sz="2100">
                <a:solidFill>
                  <a:srgbClr val="233344"/>
                </a:solidFill>
              </a:rPr>
              <a:t>75</a:t>
            </a:r>
            <a:r>
              <a:rPr lang="en-US" sz="2100" b="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, using existing laptops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85800" y="5534025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Is the three-meeting scope sufficient?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Can the sponsor’s transcript pipeline remain upstream?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Microsoft Macintosh PowerPoint</Application>
  <PresentationFormat>Widescreen</PresentationFormat>
  <Paragraphs>98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ChatGPT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Bryan Yang</cp:lastModifiedBy>
  <cp:revision>1</cp:revision>
  <dcterms:modified xsi:type="dcterms:W3CDTF">2026-09-13T03:40:51Z</dcterms:modified>
</cp:coreProperties>
</file>