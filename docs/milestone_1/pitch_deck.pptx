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isATsMU8qOrd7QGELr5WK7hSGe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" name="Google Shape;6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552450"/>
            <a:ext cx="10820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Research Meeting</a:t>
            </a:r>
            <a:r>
              <a:rPr b="1" lang="en-US" sz="3450">
                <a:solidFill>
                  <a:srgbClr val="142B3D"/>
                </a:solidFill>
              </a:rPr>
              <a:t> Follow-up Assistant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0953750" y="62103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685800" y="1847850"/>
            <a:ext cx="10287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Keeping research commitments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connected across weeks</a:t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685800" y="3619500"/>
            <a:ext cx="10477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For PhD advisors and their researchers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Tracks commitments and professor suggestions with source evidence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685800" y="5467350"/>
            <a:ext cx="102870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25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CIS-5980 / AI Engineering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25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Will Liu, Guadalupe Cantera, </a:t>
            </a:r>
            <a:r>
              <a:rPr lang="en-US" sz="1725">
                <a:solidFill>
                  <a:srgbClr val="64748B"/>
                </a:solidFill>
              </a:rPr>
              <a:t>Bryan Yang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"/>
          <p:cNvSpPr/>
          <p:nvPr/>
        </p:nvSpPr>
        <p:spPr>
          <a:xfrm>
            <a:off x="685800" y="552450"/>
            <a:ext cx="10820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One task across three meetings</a:t>
            </a: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10953750" y="62103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685800" y="1809750"/>
            <a:ext cx="19526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MEETING 1</a:t>
            </a: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2857500" y="1809750"/>
            <a:ext cx="8382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Will promises a baseline rerun.</a:t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2857500" y="2257425"/>
            <a:ext cx="8382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Create an owned task with a citation as well as </a:t>
            </a:r>
            <a:r>
              <a:rPr lang="en-US" sz="2025">
                <a:solidFill>
                  <a:srgbClr val="233344"/>
                </a:solidFill>
              </a:rPr>
              <a:t>automatic follow-up</a:t>
            </a:r>
            <a:r>
              <a:rPr b="0" lang="en-US" sz="202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685800" y="3000375"/>
            <a:ext cx="19526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MEETING 2</a:t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2857500" y="3000375"/>
            <a:ext cx="8382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“The rerun finished yesterday.”</a:t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2857500" y="3448050"/>
            <a:ext cx="8382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Complete the same task with new evidence.</a:t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685800" y="4191000"/>
            <a:ext cx="1952625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25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MEETING 3</a:t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2857500" y="4191000"/>
            <a:ext cx="8382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75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Advisor’s papers remain unmentioned.</a:t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2857500" y="4638675"/>
            <a:ext cx="83820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2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Keep that commitment open</a:t>
            </a:r>
            <a:r>
              <a:rPr lang="en-US" sz="2025">
                <a:solidFill>
                  <a:srgbClr val="233344"/>
                </a:solidFill>
              </a:rPr>
              <a:t> and additional follow-up</a:t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685800" y="5667375"/>
            <a:ext cx="10477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9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Professor suggestions stay separate until someone accepts them.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"/>
          <p:cNvSpPr/>
          <p:nvPr/>
        </p:nvSpPr>
        <p:spPr>
          <a:xfrm>
            <a:off x="685800" y="552450"/>
            <a:ext cx="10820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MVP and AI workflow</a:t>
            </a:r>
            <a:endParaRPr/>
          </a:p>
        </p:txBody>
      </p:sp>
      <p:sp>
        <p:nvSpPr>
          <p:cNvPr id="44" name="Google Shape;44;p3"/>
          <p:cNvSpPr/>
          <p:nvPr/>
        </p:nvSpPr>
        <p:spPr>
          <a:xfrm>
            <a:off x="10953750" y="62103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685800" y="1628775"/>
            <a:ext cx="106680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50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Local background service, CLI controls, calendar context</a:t>
            </a:r>
            <a:endParaRPr/>
          </a:p>
        </p:txBody>
      </p:sp>
      <p:sp>
        <p:nvSpPr>
          <p:cNvPr id="46" name="Google Shape;46;p3"/>
          <p:cNvSpPr/>
          <p:nvPr/>
        </p:nvSpPr>
        <p:spPr>
          <a:xfrm>
            <a:off x="685800" y="2381250"/>
            <a:ext cx="108204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1. Detect a meeting artifact and import the sponsor’s transcript.</a:t>
            </a:r>
            <a:endParaRPr/>
          </a:p>
        </p:txBody>
      </p:sp>
      <p:sp>
        <p:nvSpPr>
          <p:cNvPr id="47" name="Google Shape;47;p3"/>
          <p:cNvSpPr/>
          <p:nvPr/>
        </p:nvSpPr>
        <p:spPr>
          <a:xfrm>
            <a:off x="685800" y="3009900"/>
            <a:ext cx="108204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2. Extract decisions, commitments, and suggestions.</a:t>
            </a:r>
            <a:endParaRPr/>
          </a:p>
        </p:txBody>
      </p:sp>
      <p:sp>
        <p:nvSpPr>
          <p:cNvPr id="48" name="Google Shape;48;p3"/>
          <p:cNvSpPr/>
          <p:nvPr/>
        </p:nvSpPr>
        <p:spPr>
          <a:xfrm>
            <a:off x="685800" y="3638550"/>
            <a:ext cx="108204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3. Reconcile project history and flag ambiguous updates.</a:t>
            </a:r>
            <a:endParaRPr/>
          </a:p>
        </p:txBody>
      </p:sp>
      <p:sp>
        <p:nvSpPr>
          <p:cNvPr id="49" name="Google Shape;49;p3"/>
          <p:cNvSpPr/>
          <p:nvPr/>
        </p:nvSpPr>
        <p:spPr>
          <a:xfrm>
            <a:off x="685800" y="4267200"/>
            <a:ext cx="1082040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4. Produce rubric-graded summaries and cited answers.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685800" y="5219700"/>
            <a:ext cx="108204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Python runtime / SQLite / structured LLM outputs / hybrid retrieval</a:t>
            </a:r>
            <a:endParaRPr/>
          </a:p>
        </p:txBody>
      </p:sp>
      <p:sp>
        <p:nvSpPr>
          <p:cNvPr id="51" name="Google Shape;51;p3"/>
          <p:cNvSpPr/>
          <p:nvPr/>
        </p:nvSpPr>
        <p:spPr>
          <a:xfrm>
            <a:off x="685800" y="5715000"/>
            <a:ext cx="108204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Deferred: advanced diarization, backward planning, notifications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"/>
          <p:cNvSpPr/>
          <p:nvPr/>
        </p:nvSpPr>
        <p:spPr>
          <a:xfrm>
            <a:off x="685800" y="552450"/>
            <a:ext cx="10820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Evaluation</a:t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10953750" y="62103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685800" y="1571625"/>
            <a:ext cx="108204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75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Does persistent memory beat independent meeting extraction?</a:t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685800" y="2647950"/>
            <a:ext cx="4762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25">
                <a:solidFill>
                  <a:srgbClr val="233344"/>
                </a:solidFill>
              </a:rPr>
              <a:t>6</a:t>
            </a:r>
            <a:r>
              <a:rPr b="0" lang="en-US" sz="232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 meetings in six sequences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32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Held-out human annotations</a:t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6381750" y="2647950"/>
            <a:ext cx="5095875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≥95% update precision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25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Zero observed unsupported completions</a:t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685800" y="4210050"/>
            <a:ext cx="1082040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Measure task accuracy, duplicates, and review burden.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Also assess summaries, answers, and citation support.</a:t>
            </a: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685800" y="5724525"/>
            <a:ext cx="10477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75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Provisional targets. No measured results yet.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"/>
          <p:cNvSpPr/>
          <p:nvPr/>
        </p:nvSpPr>
        <p:spPr>
          <a:xfrm>
            <a:off x="685800" y="552450"/>
            <a:ext cx="10820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Evidence and safeguards</a:t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10953750" y="62103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685800" y="1704975"/>
            <a:ext cx="10820400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Every participant consents before processing.</a:t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685800" y="2400300"/>
            <a:ext cx="10820400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Confirm speakers and cite each task change.</a:t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685800" y="3095625"/>
            <a:ext cx="10820400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Review ambiguity and support corrections.</a:t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685800" y="3790950"/>
            <a:ext cx="10820400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Never infer completion from silence.</a:t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685800" y="4486275"/>
            <a:ext cx="10820400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Keep data local by default, isolate projects, and support deletion.</a:t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685800" y="5534025"/>
            <a:ext cx="1082040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Use consenting team recordings and staged scenarios.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Confirm source licenses and provider terms before use.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"/>
          <p:cNvSpPr/>
          <p:nvPr/>
        </p:nvSpPr>
        <p:spPr>
          <a:xfrm>
            <a:off x="685800" y="552450"/>
            <a:ext cx="10820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50">
                <a:solidFill>
                  <a:srgbClr val="142B3D"/>
                </a:solidFill>
                <a:latin typeface="Arial"/>
                <a:ea typeface="Arial"/>
                <a:cs typeface="Arial"/>
                <a:sym typeface="Arial"/>
              </a:rPr>
              <a:t>Delivery plan and feedback</a:t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10953750" y="6210300"/>
            <a:ext cx="571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685800" y="1657350"/>
            <a:ext cx="4476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50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PROPOSED OWNERS</a:t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685800" y="2181225"/>
            <a:ext cx="104775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Will: extraction and reconciliation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Bryan: runtime, CLI, and integrations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5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Guadalupe: data and evaluation</a:t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685800" y="3819525"/>
            <a:ext cx="10668000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Week 5: transcript pipeline     Week 8: reconciliation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75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Weeks 11–12: held-out evaluation</a:t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685800" y="4905375"/>
            <a:ext cx="1066800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100">
                <a:solidFill>
                  <a:srgbClr val="233344"/>
                </a:solidFill>
                <a:latin typeface="Arial"/>
                <a:ea typeface="Arial"/>
                <a:cs typeface="Arial"/>
                <a:sym typeface="Arial"/>
              </a:rPr>
              <a:t>Proposed budget: $150, using existing laptops</a:t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685800" y="5534025"/>
            <a:ext cx="10477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Is the three-meeting scope sufficient?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087F8C"/>
                </a:solidFill>
                <a:latin typeface="Arial"/>
                <a:ea typeface="Arial"/>
                <a:cs typeface="Arial"/>
                <a:sym typeface="Arial"/>
              </a:rPr>
              <a:t>Can the sponsor’s transcript pipeline remain upstream?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